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44"/>
  </p:notesMasterIdLst>
  <p:handoutMasterIdLst>
    <p:handoutMasterId r:id="rId45"/>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92" r:id="rId21"/>
    <p:sldId id="2577" r:id="rId22"/>
    <p:sldId id="2593" r:id="rId23"/>
    <p:sldId id="2595" r:id="rId24"/>
    <p:sldId id="2601" r:id="rId25"/>
    <p:sldId id="2594" r:id="rId26"/>
    <p:sldId id="2599" r:id="rId27"/>
    <p:sldId id="2596" r:id="rId28"/>
    <p:sldId id="2598" r:id="rId29"/>
    <p:sldId id="2597" r:id="rId30"/>
    <p:sldId id="2578" r:id="rId31"/>
    <p:sldId id="2579" r:id="rId32"/>
    <p:sldId id="2580" r:id="rId33"/>
    <p:sldId id="2581" r:id="rId34"/>
    <p:sldId id="2582" r:id="rId35"/>
    <p:sldId id="2583" r:id="rId36"/>
    <p:sldId id="2584" r:id="rId37"/>
    <p:sldId id="2585" r:id="rId38"/>
    <p:sldId id="2586" r:id="rId39"/>
    <p:sldId id="2587" r:id="rId40"/>
    <p:sldId id="2588" r:id="rId41"/>
    <p:sldId id="2589" r:id="rId42"/>
    <p:sldId id="259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D Barcode Detection Project" id="{CC794DF4-EF3B-4A50-8BBF-3D720C191BDC}">
          <p14:sldIdLst>
            <p14:sldId id="2561"/>
          </p14:sldIdLst>
        </p14:section>
        <p14:section name="Introduction" id="{5B8E1213-1259-4ACD-BD17-1EE984310A6E}">
          <p14:sldIdLst>
            <p14:sldId id="2562"/>
          </p14:sldIdLst>
        </p14:section>
        <p14:section name="Executive Summary" id="{4D01731C-675E-4DBE-A01A-9B8938AD7233}">
          <p14:sldIdLst>
            <p14:sldId id="2563"/>
            <p14:sldId id="2564"/>
          </p14:sldIdLst>
        </p14:section>
        <p14:section name="Background &amp; Objectives" id="{1C8CE988-1420-4DA5-A5B7-FA347D65780C}">
          <p14:sldIdLst>
            <p14:sldId id="2565"/>
            <p14:sldId id="2566"/>
          </p14:sldIdLst>
        </p14:section>
        <p14:section name="System Overview" id="{22931AAC-1F97-454A-8577-19D7761CCB3B}">
          <p14:sldIdLst>
            <p14:sldId id="2567"/>
            <p14:sldId id="2568"/>
          </p14:sldIdLst>
        </p14:section>
        <p14:section name="Pipeline Architecture" id="{710ED9AF-08C7-439F-8AC6-0879388993C1}">
          <p14:sldIdLst>
            <p14:sldId id="2569"/>
            <p14:sldId id="2570"/>
          </p14:sldIdLst>
        </p14:section>
        <p14:section name="Step-by-Step Process" id="{7F7EFF1F-E757-4521-AC72-D7456FD6BA03}">
          <p14:sldIdLst>
            <p14:sldId id="2571"/>
            <p14:sldId id="2572"/>
            <p14:sldId id="2573"/>
            <p14:sldId id="2574"/>
            <p14:sldId id="2575"/>
            <p14:sldId id="2576"/>
            <p14:sldId id="2592"/>
            <p14:sldId id="2577"/>
            <p14:sldId id="2593"/>
            <p14:sldId id="2595"/>
            <p14:sldId id="2601"/>
            <p14:sldId id="2594"/>
            <p14:sldId id="2599"/>
            <p14:sldId id="2596"/>
            <p14:sldId id="2598"/>
            <p14:sldId id="2597"/>
            <p14:sldId id="2578"/>
          </p14:sldIdLst>
        </p14:section>
        <p14:section name="Challenges" id="{E9A2457B-3FBF-4985-9934-E230CB8C02F8}">
          <p14:sldIdLst>
            <p14:sldId id="2579"/>
            <p14:sldId id="2580"/>
          </p14:sldIdLst>
        </p14:section>
        <p14:section name="Future Work" id="{C4261038-2738-465F-B389-B5F04EBFAE35}">
          <p14:sldIdLst>
            <p14:sldId id="2581"/>
            <p14:sldId id="2582"/>
          </p14:sldIdLst>
        </p14:section>
        <p14:section name="Algorithms &amp; Rationale" id="{78C587E9-2972-4840-8D32-4BA69428CD21}">
          <p14:sldIdLst>
            <p14:sldId id="2583"/>
            <p14:sldId id="2584"/>
          </p14:sldIdLst>
        </p14:section>
        <p14:section name="Usage Guide" id="{C9716689-96D1-4CCF-86DE-78FC6A18036F}">
          <p14:sldIdLst>
            <p14:sldId id="2585"/>
            <p14:sldId id="2586"/>
          </p14:sldIdLst>
        </p14:section>
        <p14:section name="Conclusion" id="{C302F4D1-A13B-4E80-9869-EA1557E63E03}">
          <p14:sldIdLst>
            <p14:sldId id="2587"/>
            <p14:sldId id="2588"/>
          </p14:sldIdLst>
        </p14:section>
        <p14:section name="References" id="{3DA21C0F-BF64-480D-A9D9-47D000B5A1F9}">
          <p14:sldIdLst>
            <p14:sldId id="2589"/>
            <p14:sldId id="25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A2C"/>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0D1BC6-2141-4CA2-A1AE-6A01ECB8CDED}" v="79" dt="2025-12-02T13:37:39.1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12/11/2025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123496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and Objectives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595330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Overview</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409663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executive summary provides a concise description of the pipeline designed to detect multiple 1D barcodes in a single image. It explains that the system uses OpenCV for image processing and contour analysis, combining grayscale conversion, gradient-based edge detection, thresholding, and morphological operations to isolate barcode regions. Contour extraction and validation ensure accurate candidate identification, while Non-Maximum Suppression (NMS) removes redundant detections. The system is robust against noise, partial overlaps, and varying orientations, making it suitable for practical applications in retail and logistics.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886515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Importance and Goals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56544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section explains why barcode detection is critical for inventory management and automation. It outlines the project goals: detect multiple barcodes in a single image, handle merged or stacked barcodes, filter out noise, and provide visual verification through bounding boxes. The emphasis is on creating a transparent and reproducible system using classical computer vision methods rather than machine learning, ensuring adaptability across different datasets and scenarios.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013318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Inputs and Dependencies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076534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system processes images containing multiple barcodes, supporting formats such as EAN-13, UPC, and Code 128. It relies on OpenCV for image processing, NumPy for numerical operations, and Google Colab for execution and visualization. The overview also mentions that the pipeline is modular, allowing easy adjustments for different barcode densities and image resolutions.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968358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Stages of Processing</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4191719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pipeline consists of several stages: Image Loading, Grayscale Conversion and Gaussian Blur, Gradient Computation using Sobel operators, Thresholding with Otsu's method, Morphological operations for noise removal, Contour Extraction, Candidate Validation, Large Contour Splitting for merged barcodes, and Non-Maximum Suppression for final detection. Each stage is designed to progressively refine the image and isolate barcode regions while minimizing false positives.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4073885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0: Imports, Step 1: Image Loading &amp; Preview, Step 2: Preprocessing &amp; Gradient, Step 3: Thresholding &amp; Morphology, Step 4: Contour Detection &amp; Candidate Buffering, Step 5: Validation Functions, Step 6: Final Detection &amp; Visualization</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879922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step involves importing essential libraries such as OpenCV for image processing, NumPy for numerical operations, and Matplotlib for visualization. Proper environment setup ensures smooth execution of subsequent steps.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263722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image is loaded using OpenCV's imread function and displayed for verification. This step confirms that the input is correctly read and provides a baseline reference before processing. Key considerations include checking image dimensions and resizing large images for faster processing.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2004018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The image is converted to grayscale to simplify processing, and Gaussian blur is applied to reduce noise. Sobel operators compute gradients in both horizontal and vertical directions, which are combined to create an orientation-independent edge map highlighting barcode stripes.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1032342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Otsu's thresholding converts the gradient image into a binary mask, separating barcode edges from the background. Light morphological closing fills small gaps within barcode stripes, while opening removes isolated noise. These operations ensure clean masks for contour detection without merging adjacent barcodes.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973493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Contours are extracted from the cleaned binary mask using external retrieval mode to avoid nested duplicates. Each contour is analyzed for size and aspect ratio, and potential barcode regions are buffered for further validation. Large-area thresholds help identify merged barcodes for specialized splitting strategies.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3329860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76E7-98EF-B65E-DEF2-A02D45235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C264E-451D-4784-16BE-CA58DAB04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DB464-E43C-DDF7-385F-79520AE79D99}"/>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E7E71E72-B9D7-3CEC-97F9-EDFB37F5F21B}"/>
              </a:ext>
            </a:extLst>
          </p:cNvPr>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1216109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3902363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DDD6B-3965-45EE-C7BF-932886767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E6FAF-D348-BE77-F200-163240914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4F301C-14C9-87E9-534C-D800F6229588}"/>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A7F4FF71-BAAE-059E-24E7-E9F02D30F7F2}"/>
              </a:ext>
            </a:extLst>
          </p:cNvPr>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1438841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F0E81-B1E0-26DC-797F-8AD44AB88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D745A-17CC-18CE-28A9-475358CE6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C9B40-704B-4551-19E6-9D88F949E42E}"/>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BEBABA10-ABC7-D0AB-9558-F16078A15246}"/>
              </a:ext>
            </a:extLst>
          </p:cNvPr>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4514146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07CA-C969-FF3D-710F-36FE65C16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67F3C-DB5E-FFDD-830B-BC6138382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BAEE1-0FFE-ADE7-E4FA-872E6D695D3E}"/>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895C8D96-BE1C-CF03-D999-4F3B77EEEFE3}"/>
              </a:ext>
            </a:extLst>
          </p:cNvPr>
          <p:cNvSpPr>
            <a:spLocks noGrp="1"/>
          </p:cNvSpPr>
          <p:nvPr>
            <p:ph type="sldNum" sz="quarter" idx="5"/>
          </p:nvPr>
        </p:nvSpPr>
        <p:spPr/>
        <p:txBody>
          <a:bodyPr/>
          <a:lstStyle/>
          <a:p>
            <a:fld id="{38EFF46E-6B43-41F9-9272-B566D03A251C}" type="slidenum">
              <a:rPr lang="en-US" smtClean="0"/>
              <a:t>21</a:t>
            </a:fld>
            <a:endParaRPr lang="en-US"/>
          </a:p>
        </p:txBody>
      </p:sp>
    </p:spTree>
    <p:extLst>
      <p:ext uri="{BB962C8B-B14F-4D97-AF65-F5344CB8AC3E}">
        <p14:creationId xmlns:p14="http://schemas.microsoft.com/office/powerpoint/2010/main" val="2730410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70A62-F883-AB92-3F5B-5115CC089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2F3C1-83BE-10DB-3891-6CEC7F0BB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63F2A-CBFC-F41F-FFC2-3F216D353FC5}"/>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F9EA78E8-5C19-24CD-718A-34025B021B82}"/>
              </a:ext>
            </a:extLst>
          </p:cNvPr>
          <p:cNvSpPr>
            <a:spLocks noGrp="1"/>
          </p:cNvSpPr>
          <p:nvPr>
            <p:ph type="sldNum" sz="quarter" idx="5"/>
          </p:nvPr>
        </p:nvSpPr>
        <p:spPr/>
        <p:txBody>
          <a:bodyPr/>
          <a:lstStyle/>
          <a:p>
            <a:fld id="{38EFF46E-6B43-41F9-9272-B566D03A251C}" type="slidenum">
              <a:rPr lang="en-US" smtClean="0"/>
              <a:t>22</a:t>
            </a:fld>
            <a:endParaRPr lang="en-US"/>
          </a:p>
        </p:txBody>
      </p:sp>
    </p:spTree>
    <p:extLst>
      <p:ext uri="{BB962C8B-B14F-4D97-AF65-F5344CB8AC3E}">
        <p14:creationId xmlns:p14="http://schemas.microsoft.com/office/powerpoint/2010/main" val="560749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5A82C-FA03-4823-9C08-22634207E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99B18-332E-3C0A-A97B-F43EFA3E2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3F9D3-3FD9-96FC-7A01-1D5EA91FF5B0}"/>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5A37521F-1AA1-3697-457D-AA0540CEF05C}"/>
              </a:ext>
            </a:extLst>
          </p:cNvPr>
          <p:cNvSpPr>
            <a:spLocks noGrp="1"/>
          </p:cNvSpPr>
          <p:nvPr>
            <p:ph type="sldNum" sz="quarter" idx="5"/>
          </p:nvPr>
        </p:nvSpPr>
        <p:spPr/>
        <p:txBody>
          <a:bodyPr/>
          <a:lstStyle/>
          <a:p>
            <a:fld id="{38EFF46E-6B43-41F9-9272-B566D03A251C}" type="slidenum">
              <a:rPr lang="en-US" smtClean="0"/>
              <a:t>23</a:t>
            </a:fld>
            <a:endParaRPr lang="en-US"/>
          </a:p>
        </p:txBody>
      </p:sp>
    </p:spTree>
    <p:extLst>
      <p:ext uri="{BB962C8B-B14F-4D97-AF65-F5344CB8AC3E}">
        <p14:creationId xmlns:p14="http://schemas.microsoft.com/office/powerpoint/2010/main" val="4019542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32077-C311-D1A4-A540-1BF43CE4D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0DE65-E7C8-9147-5C22-9A568523A2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0118E-31AA-41AB-67B4-25A03B53D379}"/>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A8F9F219-27F1-CA9E-0640-BAE372F4B637}"/>
              </a:ext>
            </a:extLst>
          </p:cNvPr>
          <p:cNvSpPr>
            <a:spLocks noGrp="1"/>
          </p:cNvSpPr>
          <p:nvPr>
            <p:ph type="sldNum" sz="quarter" idx="5"/>
          </p:nvPr>
        </p:nvSpPr>
        <p:spPr/>
        <p:txBody>
          <a:bodyPr/>
          <a:lstStyle/>
          <a:p>
            <a:fld id="{38EFF46E-6B43-41F9-9272-B566D03A251C}" type="slidenum">
              <a:rPr lang="en-US" smtClean="0"/>
              <a:t>24</a:t>
            </a:fld>
            <a:endParaRPr lang="en-US"/>
          </a:p>
        </p:txBody>
      </p:sp>
    </p:spTree>
    <p:extLst>
      <p:ext uri="{BB962C8B-B14F-4D97-AF65-F5344CB8AC3E}">
        <p14:creationId xmlns:p14="http://schemas.microsoft.com/office/powerpoint/2010/main" val="1543122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BAB27-2AA1-5CC6-89E3-388468774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C321F-FB2F-E16C-F10C-C8B62DA30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16789-39E8-4196-A799-EF4709291C45}"/>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7DA790EC-35CF-BFE3-3FA1-C88DDC30DB0F}"/>
              </a:ext>
            </a:extLst>
          </p:cNvPr>
          <p:cNvSpPr>
            <a:spLocks noGrp="1"/>
          </p:cNvSpPr>
          <p:nvPr>
            <p:ph type="sldNum" sz="quarter" idx="5"/>
          </p:nvPr>
        </p:nvSpPr>
        <p:spPr/>
        <p:txBody>
          <a:bodyPr/>
          <a:lstStyle/>
          <a:p>
            <a:fld id="{38EFF46E-6B43-41F9-9272-B566D03A251C}" type="slidenum">
              <a:rPr lang="en-US" smtClean="0"/>
              <a:t>25</a:t>
            </a:fld>
            <a:endParaRPr lang="en-US"/>
          </a:p>
        </p:txBody>
      </p:sp>
    </p:spTree>
    <p:extLst>
      <p:ext uri="{BB962C8B-B14F-4D97-AF65-F5344CB8AC3E}">
        <p14:creationId xmlns:p14="http://schemas.microsoft.com/office/powerpoint/2010/main" val="17638074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7A3AA-C42E-81CE-F50F-C155C94E5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8041F-CEF1-CD2C-5E80-74BCC8BCF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0EE6AA-71CC-6998-9AFA-48992EE99000}"/>
              </a:ext>
            </a:extLst>
          </p:cNvPr>
          <p:cNvSpPr>
            <a:spLocks noGrp="1"/>
          </p:cNvSpPr>
          <p:nvPr>
            <p:ph type="body" idx="1"/>
          </p:nvPr>
        </p:nvSpPr>
        <p:spPr/>
        <p:txBody>
          <a:bodyPr/>
          <a:lstStyle/>
          <a:p>
            <a:r>
              <a:rPr lang="en-US" dirty="0"/>
              <a:t>
---
Validation functions filter out unrealistic contours based on size, aspect ratio, and shape. Additional utilities compute Intersection over Union (</a:t>
            </a:r>
            <a:r>
              <a:rPr lang="en-US" dirty="0" err="1"/>
              <a:t>IoU</a:t>
            </a:r>
            <a:r>
              <a:rPr lang="en-US" dirty="0"/>
              <a:t>) and center distances for Non-Maximum Suppression. Splitting functions handle merged barcodes using erosion, projection analysis, and watershed segmentation.
Image source: Microsoft 365 content library
</a:t>
            </a:r>
          </a:p>
        </p:txBody>
      </p:sp>
      <p:sp>
        <p:nvSpPr>
          <p:cNvPr id="4" name="Slide Number Placeholder 3">
            <a:extLst>
              <a:ext uri="{FF2B5EF4-FFF2-40B4-BE49-F238E27FC236}">
                <a16:creationId xmlns:a16="http://schemas.microsoft.com/office/drawing/2014/main" id="{2BE5D257-7411-CC2B-78E8-29786F8ABBE2}"/>
              </a:ext>
            </a:extLst>
          </p:cNvPr>
          <p:cNvSpPr>
            <a:spLocks noGrp="1"/>
          </p:cNvSpPr>
          <p:nvPr>
            <p:ph type="sldNum" sz="quarter" idx="5"/>
          </p:nvPr>
        </p:nvSpPr>
        <p:spPr/>
        <p:txBody>
          <a:bodyPr/>
          <a:lstStyle/>
          <a:p>
            <a:fld id="{38EFF46E-6B43-41F9-9272-B566D03A251C}" type="slidenum">
              <a:rPr lang="en-US" smtClean="0"/>
              <a:t>26</a:t>
            </a:fld>
            <a:endParaRPr lang="en-US"/>
          </a:p>
        </p:txBody>
      </p:sp>
    </p:spTree>
    <p:extLst>
      <p:ext uri="{BB962C8B-B14F-4D97-AF65-F5344CB8AC3E}">
        <p14:creationId xmlns:p14="http://schemas.microsoft.com/office/powerpoint/2010/main" val="4167760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After validation and splitting, Non-Maximum Suppression removes overlapping detections, ensuring each barcode is counted once. Final bounding boxes are drawn on the original image for visual verification, and the total count of detected barcodes is displayed.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27</a:t>
            </a:fld>
            <a:endParaRPr lang="en-US"/>
          </a:p>
        </p:txBody>
      </p:sp>
    </p:spTree>
    <p:extLst>
      <p:ext uri="{BB962C8B-B14F-4D97-AF65-F5344CB8AC3E}">
        <p14:creationId xmlns:p14="http://schemas.microsoft.com/office/powerpoint/2010/main" val="4002572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Development Challenges</a:t>
            </a:r>
          </a:p>
        </p:txBody>
      </p:sp>
      <p:sp>
        <p:nvSpPr>
          <p:cNvPr id="4" name="Slide Number Placeholder 3"/>
          <p:cNvSpPr>
            <a:spLocks noGrp="1"/>
          </p:cNvSpPr>
          <p:nvPr>
            <p:ph type="sldNum" sz="quarter" idx="5"/>
          </p:nvPr>
        </p:nvSpPr>
        <p:spPr/>
        <p:txBody>
          <a:bodyPr/>
          <a:lstStyle/>
          <a:p>
            <a:fld id="{38EFF46E-6B43-41F9-9272-B566D03A251C}" type="slidenum">
              <a:rPr lang="en-US" smtClean="0"/>
              <a:t>28</a:t>
            </a:fld>
            <a:endParaRPr lang="en-US"/>
          </a:p>
        </p:txBody>
      </p:sp>
    </p:spTree>
    <p:extLst>
      <p:ext uri="{BB962C8B-B14F-4D97-AF65-F5344CB8AC3E}">
        <p14:creationId xmlns:p14="http://schemas.microsoft.com/office/powerpoint/2010/main" val="18361799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system faced challenges such as noise and background clutter, merged or stacked barcodes, false positives from non-barcode contours, and ensuring orientation independence. Parameter tuning was critical to balance precision and recall across diverse image conditions.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29</a:t>
            </a:fld>
            <a:endParaRPr lang="en-US"/>
          </a:p>
        </p:txBody>
      </p:sp>
    </p:spTree>
    <p:extLst>
      <p:ext uri="{BB962C8B-B14F-4D97-AF65-F5344CB8AC3E}">
        <p14:creationId xmlns:p14="http://schemas.microsoft.com/office/powerpoint/2010/main" val="1901400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Barcode Decoding Strategies</a:t>
            </a:r>
          </a:p>
        </p:txBody>
      </p:sp>
      <p:sp>
        <p:nvSpPr>
          <p:cNvPr id="4" name="Slide Number Placeholder 3"/>
          <p:cNvSpPr>
            <a:spLocks noGrp="1"/>
          </p:cNvSpPr>
          <p:nvPr>
            <p:ph type="sldNum" sz="quarter" idx="5"/>
          </p:nvPr>
        </p:nvSpPr>
        <p:spPr/>
        <p:txBody>
          <a:bodyPr/>
          <a:lstStyle/>
          <a:p>
            <a:fld id="{38EFF46E-6B43-41F9-9272-B566D03A251C}" type="slidenum">
              <a:rPr lang="en-US" smtClean="0"/>
              <a:t>30</a:t>
            </a:fld>
            <a:endParaRPr lang="en-US"/>
          </a:p>
        </p:txBody>
      </p:sp>
    </p:spTree>
    <p:extLst>
      <p:ext uri="{BB962C8B-B14F-4D97-AF65-F5344CB8AC3E}">
        <p14:creationId xmlns:p14="http://schemas.microsoft.com/office/powerpoint/2010/main" val="324654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Future enhancements include integrating decoding libraries like ZBar or Pyzbar, correcting orientation before decoding, and implementing checksum validation for accuracy. Additional goals involve real-time detection for video streams and optimization for large-scale processing.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31</a:t>
            </a:fld>
            <a:endParaRPr lang="en-US"/>
          </a:p>
        </p:txBody>
      </p:sp>
    </p:spTree>
    <p:extLst>
      <p:ext uri="{BB962C8B-B14F-4D97-AF65-F5344CB8AC3E}">
        <p14:creationId xmlns:p14="http://schemas.microsoft.com/office/powerpoint/2010/main" val="7440991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Choice of Techniques</a:t>
            </a:r>
          </a:p>
        </p:txBody>
      </p:sp>
      <p:sp>
        <p:nvSpPr>
          <p:cNvPr id="4" name="Slide Number Placeholder 3"/>
          <p:cNvSpPr>
            <a:spLocks noGrp="1"/>
          </p:cNvSpPr>
          <p:nvPr>
            <p:ph type="sldNum" sz="quarter" idx="5"/>
          </p:nvPr>
        </p:nvSpPr>
        <p:spPr/>
        <p:txBody>
          <a:bodyPr/>
          <a:lstStyle/>
          <a:p>
            <a:fld id="{38EFF46E-6B43-41F9-9272-B566D03A251C}" type="slidenum">
              <a:rPr lang="en-US" smtClean="0"/>
              <a:t>32</a:t>
            </a:fld>
            <a:endParaRPr lang="en-US"/>
          </a:p>
        </p:txBody>
      </p:sp>
    </p:spTree>
    <p:extLst>
      <p:ext uri="{BB962C8B-B14F-4D97-AF65-F5344CB8AC3E}">
        <p14:creationId xmlns:p14="http://schemas.microsoft.com/office/powerpoint/2010/main" val="21910962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pipeline uses Sobel operators for gradient detection due to their efficiency and accuracy in edge extraction. Otsu's method provides adaptive thresholding, while morphological operations clean noise without merging barcodes. Contour filtering and NMS ensure precise localization and eliminate duplicates.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33</a:t>
            </a:fld>
            <a:endParaRPr lang="en-US"/>
          </a:p>
        </p:txBody>
      </p:sp>
    </p:spTree>
    <p:extLst>
      <p:ext uri="{BB962C8B-B14F-4D97-AF65-F5344CB8AC3E}">
        <p14:creationId xmlns:p14="http://schemas.microsoft.com/office/powerpoint/2010/main" val="30069654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Running the Pipeline</a:t>
            </a:r>
          </a:p>
        </p:txBody>
      </p:sp>
      <p:sp>
        <p:nvSpPr>
          <p:cNvPr id="4" name="Slide Number Placeholder 3"/>
          <p:cNvSpPr>
            <a:spLocks noGrp="1"/>
          </p:cNvSpPr>
          <p:nvPr>
            <p:ph type="sldNum" sz="quarter" idx="5"/>
          </p:nvPr>
        </p:nvSpPr>
        <p:spPr/>
        <p:txBody>
          <a:bodyPr/>
          <a:lstStyle/>
          <a:p>
            <a:fld id="{38EFF46E-6B43-41F9-9272-B566D03A251C}" type="slidenum">
              <a:rPr lang="en-US" smtClean="0"/>
              <a:t>34</a:t>
            </a:fld>
            <a:endParaRPr lang="en-US"/>
          </a:p>
        </p:txBody>
      </p:sp>
    </p:spTree>
    <p:extLst>
      <p:ext uri="{BB962C8B-B14F-4D97-AF65-F5344CB8AC3E}">
        <p14:creationId xmlns:p14="http://schemas.microsoft.com/office/powerpoint/2010/main" val="22318728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To run the pipeline, install dependencies such as OpenCV and NumPy, load the image, and execute steps sequentially in Google Colab. Adjust thresholds and kernel sizes based on barcode density and image resolution for optimal results.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35</a:t>
            </a:fld>
            <a:endParaRPr lang="en-US"/>
          </a:p>
        </p:txBody>
      </p:sp>
    </p:spTree>
    <p:extLst>
      <p:ext uri="{BB962C8B-B14F-4D97-AF65-F5344CB8AC3E}">
        <p14:creationId xmlns:p14="http://schemas.microsoft.com/office/powerpoint/2010/main" val="32480501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Achievements and Future Enhancements</a:t>
            </a:r>
          </a:p>
        </p:txBody>
      </p:sp>
      <p:sp>
        <p:nvSpPr>
          <p:cNvPr id="4" name="Slide Number Placeholder 3"/>
          <p:cNvSpPr>
            <a:spLocks noGrp="1"/>
          </p:cNvSpPr>
          <p:nvPr>
            <p:ph type="sldNum" sz="quarter" idx="5"/>
          </p:nvPr>
        </p:nvSpPr>
        <p:spPr/>
        <p:txBody>
          <a:bodyPr/>
          <a:lstStyle/>
          <a:p>
            <a:fld id="{38EFF46E-6B43-41F9-9272-B566D03A251C}" type="slidenum">
              <a:rPr lang="en-US" smtClean="0"/>
              <a:t>36</a:t>
            </a:fld>
            <a:endParaRPr lang="en-US"/>
          </a:p>
        </p:txBody>
      </p:sp>
    </p:spTree>
    <p:extLst>
      <p:ext uri="{BB962C8B-B14F-4D97-AF65-F5344CB8AC3E}">
        <p14:creationId xmlns:p14="http://schemas.microsoft.com/office/powerpoint/2010/main" val="10707351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project successfully developed a robust barcode detection system using classical image processing techniques. Key achievements include orientation-independent detection, noise handling, merged barcode separation, and false positive reduction. Future enhancements aim to integrate decoding, optimize performance, and extend functionality to real-time applications.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37</a:t>
            </a:fld>
            <a:endParaRPr lang="en-US"/>
          </a:p>
        </p:txBody>
      </p:sp>
    </p:spTree>
    <p:extLst>
      <p:ext uri="{BB962C8B-B14F-4D97-AF65-F5344CB8AC3E}">
        <p14:creationId xmlns:p14="http://schemas.microsoft.com/office/powerpoint/2010/main" val="6906389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Resources</a:t>
            </a:r>
          </a:p>
        </p:txBody>
      </p:sp>
      <p:sp>
        <p:nvSpPr>
          <p:cNvPr id="4" name="Slide Number Placeholder 3"/>
          <p:cNvSpPr>
            <a:spLocks noGrp="1"/>
          </p:cNvSpPr>
          <p:nvPr>
            <p:ph type="sldNum" sz="quarter" idx="5"/>
          </p:nvPr>
        </p:nvSpPr>
        <p:spPr/>
        <p:txBody>
          <a:bodyPr/>
          <a:lstStyle/>
          <a:p>
            <a:fld id="{38EFF46E-6B43-41F9-9272-B566D03A251C}" type="slidenum">
              <a:rPr lang="en-US" smtClean="0"/>
              <a:t>38</a:t>
            </a:fld>
            <a:endParaRPr lang="en-US"/>
          </a:p>
        </p:txBody>
      </p:sp>
    </p:spTree>
    <p:extLst>
      <p:ext uri="{BB962C8B-B14F-4D97-AF65-F5344CB8AC3E}">
        <p14:creationId xmlns:p14="http://schemas.microsoft.com/office/powerpoint/2010/main" val="30477541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OpenCV Documentation: https://docs.opencv.org
NumPy Documentation: https://numpy.org
Image source: Microsoft 365 content library
</a:t>
            </a:r>
          </a:p>
        </p:txBody>
      </p:sp>
      <p:sp>
        <p:nvSpPr>
          <p:cNvPr id="4" name="Slide Number Placeholder 3"/>
          <p:cNvSpPr>
            <a:spLocks noGrp="1"/>
          </p:cNvSpPr>
          <p:nvPr>
            <p:ph type="sldNum" sz="quarter" idx="5"/>
          </p:nvPr>
        </p:nvSpPr>
        <p:spPr/>
        <p:txBody>
          <a:bodyPr/>
          <a:lstStyle/>
          <a:p>
            <a:fld id="{38EFF46E-6B43-41F9-9272-B566D03A251C}" type="slidenum">
              <a:rPr lang="en-US" smtClean="0"/>
              <a:t>39</a:t>
            </a:fld>
            <a:endParaRPr lang="en-US"/>
          </a:p>
        </p:txBody>
      </p:sp>
    </p:spTree>
    <p:extLst>
      <p:ext uri="{BB962C8B-B14F-4D97-AF65-F5344CB8AC3E}">
        <p14:creationId xmlns:p14="http://schemas.microsoft.com/office/powerpoint/2010/main" val="1843664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77EA5D59-5512-467D-834D-D04827A6AF83}" type="datetime1">
              <a:rPr lang="en-US" smtClean="0"/>
              <a:pPr/>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B42362D5-E350-46C5-8BB1-F9E806A91933}"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30938521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BFE899EF-3666-4EAB-A626-E7AA02E66CC1}" type="datetime1">
              <a:rPr lang="en-US" smtClean="0"/>
              <a:pPr/>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1F92EF8E-B9EB-49F8-83E1-F362FA442011}" type="datetime1">
              <a:rPr lang="en-US" smtClean="0"/>
              <a:pPr/>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BC9EEDB3-BC19-4021-830F-B822E1DE9789}" type="datetime1">
              <a:rPr lang="en-US" smtClean="0"/>
              <a:pPr/>
              <a:t>12/11/2025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014DD65C-314F-4399-90A8-B6DFCAF21BE4}" type="datetime1">
              <a:rPr lang="en-US" smtClean="0"/>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D07A3B59-4DAC-4AFE-874D-3A86EC3801A0}" type="datetime1">
              <a:rPr lang="en-US" smtClean="0"/>
              <a:pPr/>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76FC08D9-20DE-421C-BE4E-310427BB699B}" type="datetime1">
              <a:rPr lang="en-US" smtClean="0"/>
              <a:pPr/>
              <a:t>12/11/2025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t">
            <a:noAutofit/>
          </a:bodyPr>
          <a:lstStyle>
            <a:lvl1pPr>
              <a:defRPr sz="9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4F1AC263-88EE-42CC-B640-B12BA856CF71}" type="datetime1">
              <a:rPr lang="en-US" smtClean="0"/>
              <a:t>12/11/2025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68A32F6A-E7E2-4607-B207-B787B539B854}" type="datetime1">
              <a:rPr lang="en-US" smtClean="0"/>
              <a:t>12/11/2025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467FC12-63BB-4A63-9424-BFBF8E1D71D9}"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A892AD61-D199-4B74-B80B-2001400510FA}"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D00D9374-B0AF-43C5-90A8-C409C7D54B55}"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9CBB6888-43ED-4D3A-B8DA-89EF29644561}" type="datetime1">
              <a:rPr lang="en-US" smtClean="0"/>
              <a:pPr/>
              <a:t>12/11/2025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27C7479B-2077-4468-85E0-F9294B46DEAE}" type="datetime1">
              <a:rPr lang="en-US" smtClean="0"/>
              <a:t>12/11/2025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12/11/2025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12/11/2025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4049900-C118-46F7-B9EF-5F7C1F0005B2}" type="datetime1">
              <a:rPr lang="en-US" smtClean="0"/>
              <a:t>12/11/2025</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0B4A3A31-ACEE-4A00-9ED7-D579651BDB0B}" type="datetime1">
              <a:rPr lang="en-US" smtClean="0"/>
              <a:t>12/11/2025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0B4A3A31-ACEE-4A00-9ED7-D579651BDB0B}" type="datetime1">
              <a:rPr lang="en-US" smtClean="0"/>
              <a:t>12/11/2025</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FAD7B7F7-7F90-4F0B-A996-5443656EFF4A}"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FAD7B7F7-7F90-4F0B-A996-5443656EFF4A}" type="datetime1">
              <a:rPr lang="en-US" smtClean="0"/>
              <a:t>12/11/2025</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2086C921-50A5-4289-8B96-30101E64A548}"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1B948B66-4D7B-4FF2-9F42-B85226272225}"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6D1D18D0-7308-42C5-B784-8892F327ABD3}"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12/11/2025</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6C46EC71-0129-40A3-85CE-244216EACC39}" type="datetime1">
              <a:rPr lang="en-US" smtClean="0"/>
              <a:t>12/11/2025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5888334B-5C34-4E7E-A4B0-3A19575F6DD8}" type="datetime1">
              <a:rPr lang="en-US" smtClean="0"/>
              <a:t>12/11/2025</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DCE8854E-90F8-4761-A9B8-18B1C5A3D25C}" type="datetime1">
              <a:rPr lang="en-US" smtClean="0"/>
              <a:pPr/>
              <a:t>12/11/2025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53DF09C0-6535-4055-81CC-988E059C8EEC}" type="datetime1">
              <a:rPr lang="en-US" smtClean="0"/>
              <a:t>12/11/2025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B85187EE-7BBC-405E-B3F5-9C3E88970356}" type="datetime1">
              <a:rPr lang="en-US" smtClean="0"/>
              <a:t>12/11/2025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967A35BA-41D5-4E87-94C2-E365E2A3656B}" type="datetime1">
              <a:rPr lang="en-US" smtClean="0"/>
              <a:t>12/11/2025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DA4345C7-9F39-4767-92C9-EBF29396D0A9}" type="datetime1">
              <a:rPr lang="en-US" smtClean="0"/>
              <a:t>12/11/2025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4A6891D2-C712-4357-A4F9-7362E459A272}" type="datetime1">
              <a:rPr lang="en-US" smtClean="0"/>
              <a:pPr/>
              <a:t>12/11/2025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34566FD-24FB-4338-A35C-D9AE347B4F66}" type="datetime1">
              <a:rPr lang="en-US" smtClean="0"/>
              <a:pPr/>
              <a:t>12/11/2025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02BF1DD-1BF4-406D-9906-B4846BCC8D55}" type="datetime1">
              <a:rPr lang="en-US" smtClean="0"/>
              <a:pPr/>
              <a:t>12/11/2025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CD0A52C9-A7D6-4EB8-8F3D-1519181DDC1D}" type="datetime1">
              <a:rPr lang="en-US" smtClean="0"/>
              <a:t>12/11/2025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2E9CE581-A048-42A8-B14C-488A3338D2F0}" type="datetime1">
              <a:rPr lang="en-US" smtClean="0"/>
              <a:t>12/11/2025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F37B15FB-E45F-4977-9C40-BB6531CE6EA6}" type="datetime1">
              <a:rPr lang="en-US" smtClean="0"/>
              <a:t>12/11/2025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18922BC5-E711-4A36-A80E-0A418F83672D}" type="datetime1">
              <a:rPr lang="en-US" smtClean="0"/>
              <a:t>12/11/2025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81D94988-488B-40CC-9623-27A54F95F7B4}" type="datetime1">
              <a:rPr lang="en-US" smtClean="0"/>
              <a:t>12/11/2025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FA3C7011-18F0-49E4-85C9-3E22BE44E3EB}" type="datetime1">
              <a:rPr lang="en-US" smtClean="0"/>
              <a:t>12/11/2025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B1E6060-C53E-4F28-8D83-0C4FB26C4A3F}"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D3D1E3E-5DD4-4BAD-A138-1254BF94C224}" type="datetime1">
              <a:rPr lang="en-US" smtClean="0"/>
              <a:t>12/11/2025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7DF4F7BB-A1DF-4BD2-8D5B-CA9EB40127CE}" type="datetime1">
              <a:rPr lang="en-US" smtClean="0"/>
              <a:pPr/>
              <a:t>12/11/2025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109A-B7F4-DB58-FEC2-9F3D5AAF0ACE}"/>
              </a:ext>
            </a:extLst>
          </p:cNvPr>
          <p:cNvSpPr>
            <a:spLocks noGrp="1"/>
          </p:cNvSpPr>
          <p:nvPr>
            <p:ph type="ctrTitle"/>
          </p:nvPr>
        </p:nvSpPr>
        <p:spPr>
          <a:xfrm>
            <a:off x="6704076" y="685801"/>
            <a:ext cx="4872227" cy="2743200"/>
          </a:xfrm>
        </p:spPr>
        <p:txBody>
          <a:bodyPr anchor="t">
            <a:normAutofit/>
          </a:bodyPr>
          <a:lstStyle/>
          <a:p>
            <a:r>
              <a:rPr lang="en-US" sz="6500"/>
              <a:t>1D Barcode Detection Project</a:t>
            </a:r>
          </a:p>
        </p:txBody>
      </p:sp>
      <p:sp>
        <p:nvSpPr>
          <p:cNvPr id="3" name="Subtitle 2">
            <a:extLst>
              <a:ext uri="{FF2B5EF4-FFF2-40B4-BE49-F238E27FC236}">
                <a16:creationId xmlns:a16="http://schemas.microsoft.com/office/drawing/2014/main" id="{89248C2B-56C8-3F35-C286-74BFF8B8EF2E}"/>
              </a:ext>
            </a:extLst>
          </p:cNvPr>
          <p:cNvSpPr>
            <a:spLocks noGrp="1"/>
          </p:cNvSpPr>
          <p:nvPr>
            <p:ph type="subTitle" idx="1"/>
          </p:nvPr>
        </p:nvSpPr>
        <p:spPr>
          <a:xfrm>
            <a:off x="6702552" y="5277548"/>
            <a:ext cx="4873752" cy="894639"/>
          </a:xfrm>
        </p:spPr>
        <p:txBody>
          <a:bodyPr anchor="t">
            <a:normAutofit/>
          </a:bodyPr>
          <a:lstStyle/>
          <a:p>
            <a:r>
              <a:rPr lang="en-US"/>
              <a:t>Techniques and methods for automated barcode scanning</a:t>
            </a:r>
          </a:p>
        </p:txBody>
      </p:sp>
      <p:pic>
        <p:nvPicPr>
          <p:cNvPr id="4" name="Picture 3" descr="Barcode scan.">
            <a:extLst>
              <a:ext uri="{FF2B5EF4-FFF2-40B4-BE49-F238E27FC236}">
                <a16:creationId xmlns:a16="http://schemas.microsoft.com/office/drawing/2014/main" id="{F67C9BCC-FAAC-44C5-B488-B46C05248B1D}"/>
              </a:ext>
            </a:extLst>
          </p:cNvPr>
          <p:cNvPicPr>
            <a:picLocks noChangeAspect="1"/>
          </p:cNvPicPr>
          <p:nvPr/>
        </p:nvPicPr>
        <p:blipFill>
          <a:blip r:embed="rId3"/>
          <a:srcRect l="13488" r="32290" b="2"/>
          <a:stretch>
            <a:fillRect/>
          </a:stretch>
        </p:blipFill>
        <p:spPr>
          <a:xfrm>
            <a:off x="20" y="10"/>
            <a:ext cx="6095980" cy="6857990"/>
          </a:xfrm>
          <a:prstGeom prst="rect">
            <a:avLst/>
          </a:prstGeom>
          <a:noFill/>
        </p:spPr>
      </p:pic>
    </p:spTree>
    <p:extLst>
      <p:ext uri="{BB962C8B-B14F-4D97-AF65-F5344CB8AC3E}">
        <p14:creationId xmlns:p14="http://schemas.microsoft.com/office/powerpoint/2010/main" val="350694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C293-8FFF-7A42-2161-32A7EE172D03}"/>
              </a:ext>
            </a:extLst>
          </p:cNvPr>
          <p:cNvSpPr>
            <a:spLocks noGrp="1"/>
          </p:cNvSpPr>
          <p:nvPr>
            <p:ph type="ctrTitle"/>
          </p:nvPr>
        </p:nvSpPr>
        <p:spPr>
          <a:xfrm>
            <a:off x="609600" y="990600"/>
            <a:ext cx="10058400" cy="5029200"/>
          </a:xfrm>
        </p:spPr>
        <p:txBody>
          <a:bodyPr anchor="b">
            <a:normAutofit/>
          </a:bodyPr>
          <a:lstStyle/>
          <a:p>
            <a:r>
              <a:rPr lang="en-US"/>
              <a:t>Introduction</a:t>
            </a:r>
          </a:p>
        </p:txBody>
      </p:sp>
    </p:spTree>
    <p:extLst>
      <p:ext uri="{BB962C8B-B14F-4D97-AF65-F5344CB8AC3E}">
        <p14:creationId xmlns:p14="http://schemas.microsoft.com/office/powerpoint/2010/main" val="658488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FEC0D-D8E4-97EA-F9BD-B192A95BF0C6}"/>
              </a:ext>
            </a:extLst>
          </p:cNvPr>
          <p:cNvSpPr>
            <a:spLocks noGrp="1"/>
          </p:cNvSpPr>
          <p:nvPr>
            <p:ph type="ctrTitle"/>
          </p:nvPr>
        </p:nvSpPr>
        <p:spPr>
          <a:xfrm>
            <a:off x="609600" y="990600"/>
            <a:ext cx="10058400" cy="5029200"/>
          </a:xfrm>
        </p:spPr>
        <p:txBody>
          <a:bodyPr anchor="b">
            <a:normAutofit/>
          </a:bodyPr>
          <a:lstStyle/>
          <a:p>
            <a:r>
              <a:rPr lang="en-US"/>
              <a:t>Executive Summary</a:t>
            </a:r>
          </a:p>
        </p:txBody>
      </p:sp>
    </p:spTree>
    <p:extLst>
      <p:ext uri="{BB962C8B-B14F-4D97-AF65-F5344CB8AC3E}">
        <p14:creationId xmlns:p14="http://schemas.microsoft.com/office/powerpoint/2010/main" val="1438509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94FC6-4226-4710-8B27-963D43F00875}"/>
              </a:ext>
            </a:extLst>
          </p:cNvPr>
          <p:cNvSpPr>
            <a:spLocks noGrp="1"/>
          </p:cNvSpPr>
          <p:nvPr>
            <p:ph type="title"/>
          </p:nvPr>
        </p:nvSpPr>
        <p:spPr>
          <a:xfrm>
            <a:off x="612647" y="685800"/>
            <a:ext cx="6858000" cy="1111532"/>
          </a:xfrm>
        </p:spPr>
        <p:txBody>
          <a:bodyPr anchor="b">
            <a:normAutofit/>
          </a:bodyPr>
          <a:lstStyle/>
          <a:p>
            <a:r>
              <a:rPr lang="en-US"/>
              <a:t>Project Overview</a:t>
            </a:r>
          </a:p>
        </p:txBody>
      </p:sp>
      <p:sp>
        <p:nvSpPr>
          <p:cNvPr id="4" name="Content Placeholder 3">
            <a:extLst>
              <a:ext uri="{FF2B5EF4-FFF2-40B4-BE49-F238E27FC236}">
                <a16:creationId xmlns:a16="http://schemas.microsoft.com/office/drawing/2014/main" id="{BC662E2E-D420-FE93-1F01-88EAF44F82F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Image Processing Techniques</a:t>
            </a:r>
          </a:p>
          <a:p>
            <a:pPr marL="0" lvl="1" indent="0">
              <a:buFont typeface="Arial" panose="020B0604020202020204" pitchFamily="34" charset="0"/>
              <a:buNone/>
            </a:pPr>
            <a:r>
              <a:t>The system uses grayscale conversion, edge detection, thresholding, and morphological operations to isolate barcode regions effectively.</a:t>
            </a:r>
            <a:endParaRPr lang="en-US"/>
          </a:p>
          <a:p>
            <a:pPr marL="0" indent="0">
              <a:spcBef>
                <a:spcPts val="2500"/>
              </a:spcBef>
              <a:buFont typeface="Arial" panose="020B0604020202020204" pitchFamily="34" charset="0"/>
              <a:buNone/>
            </a:pPr>
            <a:r>
              <a:rPr lang="en-US" b="1"/>
              <a:t>Contour Extraction and Validation</a:t>
            </a:r>
          </a:p>
          <a:p>
            <a:pPr marL="0" lvl="1" indent="0">
              <a:buFont typeface="Arial" panose="020B0604020202020204" pitchFamily="34" charset="0"/>
              <a:buNone/>
            </a:pPr>
            <a:r>
              <a:t>Contours are extracted and validated to accurately identify candidate barcode regions within the image.</a:t>
            </a:r>
            <a:endParaRPr lang="en-US"/>
          </a:p>
          <a:p>
            <a:pPr marL="0" indent="0">
              <a:spcBef>
                <a:spcPts val="2500"/>
              </a:spcBef>
              <a:buFont typeface="Arial" panose="020B0604020202020204" pitchFamily="34" charset="0"/>
              <a:buNone/>
            </a:pPr>
            <a:r>
              <a:rPr lang="en-US" b="1"/>
              <a:t>Non-Maximum Suppression</a:t>
            </a:r>
          </a:p>
          <a:p>
            <a:pPr marL="0" lvl="1" indent="0">
              <a:buFont typeface="Arial" panose="020B0604020202020204" pitchFamily="34" charset="0"/>
              <a:buNone/>
            </a:pPr>
            <a:r>
              <a:t>NMS is applied to remove redundant barcode detections, ensuring precise identification of multiple barcodes.</a:t>
            </a:r>
            <a:endParaRPr lang="en-US"/>
          </a:p>
          <a:p>
            <a:pPr marL="0" indent="0">
              <a:spcBef>
                <a:spcPts val="2500"/>
              </a:spcBef>
              <a:buFont typeface="Arial" panose="020B0604020202020204" pitchFamily="34" charset="0"/>
              <a:buNone/>
            </a:pPr>
            <a:r>
              <a:rPr lang="en-US" b="1"/>
              <a:t>Robustness and Applications</a:t>
            </a:r>
          </a:p>
          <a:p>
            <a:pPr marL="0" lvl="1" indent="0">
              <a:buFont typeface="Arial" panose="020B0604020202020204" pitchFamily="34" charset="0"/>
              <a:buNone/>
            </a:pPr>
            <a:r>
              <a:t>The system handles noise, partial overlaps, and orientations, making it practical for retail and logistics use cases.</a:t>
            </a:r>
            <a:endParaRPr lang="en-US"/>
          </a:p>
        </p:txBody>
      </p:sp>
      <p:pic>
        <p:nvPicPr>
          <p:cNvPr id="5" name="Content Placeholder 4" descr="Abstract color image depicting a large group of sticks in water with red beads on the end, creating an abstract reflection image. Room for copy space.">
            <a:extLst>
              <a:ext uri="{FF2B5EF4-FFF2-40B4-BE49-F238E27FC236}">
                <a16:creationId xmlns:a16="http://schemas.microsoft.com/office/drawing/2014/main" id="{0D298D5D-E281-4199-BA27-E97DFF1162B4}"/>
              </a:ext>
            </a:extLst>
          </p:cNvPr>
          <p:cNvPicPr>
            <a:picLocks noGrp="1" noChangeAspect="1"/>
          </p:cNvPicPr>
          <p:nvPr>
            <p:ph type="pic" sz="quarter" idx="13"/>
          </p:nvPr>
        </p:nvPicPr>
        <p:blipFill>
          <a:blip r:embed="rId3"/>
          <a:srcRect l="27140" r="32950"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580312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7C1D6-CBE7-1807-CF20-AC86CA928B5F}"/>
              </a:ext>
            </a:extLst>
          </p:cNvPr>
          <p:cNvSpPr>
            <a:spLocks noGrp="1"/>
          </p:cNvSpPr>
          <p:nvPr>
            <p:ph type="ctrTitle"/>
          </p:nvPr>
        </p:nvSpPr>
        <p:spPr>
          <a:xfrm>
            <a:off x="609600" y="990600"/>
            <a:ext cx="10058400" cy="5029200"/>
          </a:xfrm>
        </p:spPr>
        <p:txBody>
          <a:bodyPr anchor="b">
            <a:normAutofit/>
          </a:bodyPr>
          <a:lstStyle/>
          <a:p>
            <a:r>
              <a:rPr lang="en-US"/>
              <a:t>Background &amp; Objectives</a:t>
            </a:r>
          </a:p>
        </p:txBody>
      </p:sp>
    </p:spTree>
    <p:extLst>
      <p:ext uri="{BB962C8B-B14F-4D97-AF65-F5344CB8AC3E}">
        <p14:creationId xmlns:p14="http://schemas.microsoft.com/office/powerpoint/2010/main" val="29712147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E7B5-C7DC-622C-5FCE-049674782941}"/>
              </a:ext>
            </a:extLst>
          </p:cNvPr>
          <p:cNvSpPr>
            <a:spLocks noGrp="1"/>
          </p:cNvSpPr>
          <p:nvPr>
            <p:ph type="title"/>
          </p:nvPr>
        </p:nvSpPr>
        <p:spPr>
          <a:xfrm>
            <a:off x="8212664" y="687787"/>
            <a:ext cx="3363259" cy="1993392"/>
          </a:xfrm>
        </p:spPr>
        <p:txBody>
          <a:bodyPr anchor="b">
            <a:normAutofit/>
          </a:bodyPr>
          <a:lstStyle/>
          <a:p>
            <a:r>
              <a:rPr lang="en-US" sz="3800"/>
              <a:t>Importance and Goals</a:t>
            </a:r>
          </a:p>
        </p:txBody>
      </p:sp>
      <p:pic>
        <p:nvPicPr>
          <p:cNvPr id="5" name="Content Placeholder 4" descr="Barcode with laser stripe and reflection.  The barcode is repeated in white on black.See also:">
            <a:extLst>
              <a:ext uri="{FF2B5EF4-FFF2-40B4-BE49-F238E27FC236}">
                <a16:creationId xmlns:a16="http://schemas.microsoft.com/office/drawing/2014/main" id="{CE7294FD-E156-4235-8CEC-E52394380EFF}"/>
              </a:ext>
            </a:extLst>
          </p:cNvPr>
          <p:cNvPicPr>
            <a:picLocks noGrp="1" noChangeAspect="1"/>
          </p:cNvPicPr>
          <p:nvPr>
            <p:ph type="pic" sz="quarter" idx="13"/>
          </p:nvPr>
        </p:nvPicPr>
        <p:blipFill>
          <a:blip r:embed="rId3"/>
          <a:srcRect l="10257" r="6802"/>
          <a:stretch>
            <a:fillRect/>
          </a:stretch>
        </p:blipFill>
        <p:spPr>
          <a:xfrm>
            <a:off x="20" y="10"/>
            <a:ext cx="7584124" cy="6857990"/>
          </a:xfrm>
          <a:prstGeom prst="rect">
            <a:avLst/>
          </a:prstGeom>
          <a:noFill/>
        </p:spPr>
      </p:pic>
      <p:sp>
        <p:nvSpPr>
          <p:cNvPr id="4" name="Content Placeholder 3">
            <a:extLst>
              <a:ext uri="{FF2B5EF4-FFF2-40B4-BE49-F238E27FC236}">
                <a16:creationId xmlns:a16="http://schemas.microsoft.com/office/drawing/2014/main" id="{E9BCCD99-433A-3F29-8D6F-2C70B18CB24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791" y="2880360"/>
            <a:ext cx="3363259" cy="3274612"/>
          </a:xfrm>
        </p:spPr>
        <p:txBody>
          <a:bodyPr>
            <a:normAutofit/>
          </a:bodyPr>
          <a:lstStyle/>
          <a:p>
            <a:pPr marL="0" indent="0">
              <a:lnSpc>
                <a:spcPct val="90000"/>
              </a:lnSpc>
              <a:spcBef>
                <a:spcPts val="2500"/>
              </a:spcBef>
              <a:buFont typeface="Arial" panose="020B0604020202020204" pitchFamily="34" charset="0"/>
              <a:buNone/>
            </a:pPr>
            <a:r>
              <a:rPr lang="en-US" sz="1300" b="1"/>
              <a:t>Critical Role of Barcode Detection</a:t>
            </a:r>
          </a:p>
          <a:p>
            <a:pPr marL="0" lvl="1" indent="0">
              <a:lnSpc>
                <a:spcPct val="90000"/>
              </a:lnSpc>
              <a:buFont typeface="Arial" panose="020B0604020202020204" pitchFamily="34" charset="0"/>
              <a:buNone/>
            </a:pPr>
            <a:r>
              <a:rPr lang="en-US" sz="1300"/>
              <a:t>Barcode detection is essential for efficient inventory management and automation processes in various industries.</a:t>
            </a:r>
          </a:p>
          <a:p>
            <a:pPr marL="0" indent="0">
              <a:lnSpc>
                <a:spcPct val="90000"/>
              </a:lnSpc>
              <a:spcBef>
                <a:spcPts val="2500"/>
              </a:spcBef>
              <a:buFont typeface="Arial" panose="020B0604020202020204" pitchFamily="34" charset="0"/>
              <a:buNone/>
            </a:pPr>
            <a:r>
              <a:rPr lang="en-US" sz="1300" b="1"/>
              <a:t>Comprehensive Detection Goals</a:t>
            </a:r>
          </a:p>
          <a:p>
            <a:pPr marL="0" lvl="1" indent="0">
              <a:lnSpc>
                <a:spcPct val="90000"/>
              </a:lnSpc>
              <a:buFont typeface="Arial" panose="020B0604020202020204" pitchFamily="34" charset="0"/>
              <a:buNone/>
            </a:pPr>
            <a:r>
              <a:rPr lang="en-US" sz="1300"/>
              <a:t>Goals include detecting multiple barcodes, handling merged or stacked barcodes, filtering noise, and providing visual verification.</a:t>
            </a:r>
          </a:p>
          <a:p>
            <a:pPr marL="0" indent="0">
              <a:lnSpc>
                <a:spcPct val="90000"/>
              </a:lnSpc>
              <a:spcBef>
                <a:spcPts val="2500"/>
              </a:spcBef>
              <a:buFont typeface="Arial" panose="020B0604020202020204" pitchFamily="34" charset="0"/>
              <a:buNone/>
            </a:pPr>
            <a:r>
              <a:rPr lang="en-US" sz="1300" b="1"/>
              <a:t>Use of Classical Computer Vision</a:t>
            </a:r>
          </a:p>
          <a:p>
            <a:pPr marL="0" lvl="1" indent="0">
              <a:lnSpc>
                <a:spcPct val="90000"/>
              </a:lnSpc>
              <a:buFont typeface="Arial" panose="020B0604020202020204" pitchFamily="34" charset="0"/>
              <a:buNone/>
            </a:pPr>
            <a:r>
              <a:rPr lang="en-US" sz="1300"/>
              <a:t>The system relies on classical computer vision techniques to ensure transparency, reproducibility, and adaptability.</a:t>
            </a:r>
          </a:p>
        </p:txBody>
      </p:sp>
    </p:spTree>
    <p:extLst>
      <p:ext uri="{BB962C8B-B14F-4D97-AF65-F5344CB8AC3E}">
        <p14:creationId xmlns:p14="http://schemas.microsoft.com/office/powerpoint/2010/main" val="745873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41440-F5EB-AE25-305A-445D859813C4}"/>
              </a:ext>
            </a:extLst>
          </p:cNvPr>
          <p:cNvSpPr>
            <a:spLocks noGrp="1"/>
          </p:cNvSpPr>
          <p:nvPr>
            <p:ph type="ctrTitle"/>
          </p:nvPr>
        </p:nvSpPr>
        <p:spPr>
          <a:xfrm>
            <a:off x="609600" y="990600"/>
            <a:ext cx="10058400" cy="5029200"/>
          </a:xfrm>
        </p:spPr>
        <p:txBody>
          <a:bodyPr anchor="b">
            <a:normAutofit/>
          </a:bodyPr>
          <a:lstStyle/>
          <a:p>
            <a:r>
              <a:rPr lang="en-US"/>
              <a:t>System Overview</a:t>
            </a:r>
          </a:p>
        </p:txBody>
      </p:sp>
    </p:spTree>
    <p:extLst>
      <p:ext uri="{BB962C8B-B14F-4D97-AF65-F5344CB8AC3E}">
        <p14:creationId xmlns:p14="http://schemas.microsoft.com/office/powerpoint/2010/main" val="3236120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CC2E-7A92-1276-153E-8D75AA574B30}"/>
              </a:ext>
            </a:extLst>
          </p:cNvPr>
          <p:cNvSpPr>
            <a:spLocks noGrp="1"/>
          </p:cNvSpPr>
          <p:nvPr>
            <p:ph type="title"/>
          </p:nvPr>
        </p:nvSpPr>
        <p:spPr>
          <a:xfrm>
            <a:off x="612647" y="685800"/>
            <a:ext cx="6858000" cy="1111532"/>
          </a:xfrm>
        </p:spPr>
        <p:txBody>
          <a:bodyPr anchor="b">
            <a:normAutofit/>
          </a:bodyPr>
          <a:lstStyle/>
          <a:p>
            <a:r>
              <a:rPr lang="en-US" sz="3800"/>
              <a:t>Inputs and Dependencies</a:t>
            </a:r>
          </a:p>
        </p:txBody>
      </p:sp>
      <p:sp>
        <p:nvSpPr>
          <p:cNvPr id="4" name="Content Placeholder 3">
            <a:extLst>
              <a:ext uri="{FF2B5EF4-FFF2-40B4-BE49-F238E27FC236}">
                <a16:creationId xmlns:a16="http://schemas.microsoft.com/office/drawing/2014/main" id="{46A9376D-B6DB-558B-8E60-F90B38A8074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Barcode Format Support</a:t>
            </a:r>
          </a:p>
          <a:p>
            <a:pPr marL="0" lvl="1" indent="0">
              <a:buFont typeface="Arial" panose="020B0604020202020204" pitchFamily="34" charset="0"/>
              <a:buNone/>
            </a:pPr>
            <a:r>
              <a:t>The system supports multiple barcode formats including EAN-13, UPC, and Code 128 for versatile image processing.</a:t>
            </a:r>
            <a:endParaRPr lang="en-US"/>
          </a:p>
          <a:p>
            <a:pPr marL="0" indent="0">
              <a:spcBef>
                <a:spcPts val="2500"/>
              </a:spcBef>
              <a:buFont typeface="Arial" panose="020B0604020202020204" pitchFamily="34" charset="0"/>
              <a:buNone/>
            </a:pPr>
            <a:r>
              <a:rPr lang="en-US" b="1"/>
              <a:t>Core Software Libraries</a:t>
            </a:r>
          </a:p>
          <a:p>
            <a:pPr marL="0" lvl="1" indent="0">
              <a:buFont typeface="Arial" panose="020B0604020202020204" pitchFamily="34" charset="0"/>
              <a:buNone/>
            </a:pPr>
            <a:r>
              <a:t>OpenCV and NumPy are essential dependencies used for image processing and numerical operations in the system.</a:t>
            </a:r>
            <a:endParaRPr lang="en-US"/>
          </a:p>
          <a:p>
            <a:pPr marL="0" indent="0">
              <a:spcBef>
                <a:spcPts val="2500"/>
              </a:spcBef>
              <a:buFont typeface="Arial" panose="020B0604020202020204" pitchFamily="34" charset="0"/>
              <a:buNone/>
            </a:pPr>
            <a:r>
              <a:rPr lang="en-US" b="1"/>
              <a:t>Execution Environment</a:t>
            </a:r>
          </a:p>
          <a:p>
            <a:pPr marL="0" lvl="1" indent="0">
              <a:buFont typeface="Arial" panose="020B0604020202020204" pitchFamily="34" charset="0"/>
              <a:buNone/>
            </a:pPr>
            <a:r>
              <a:t>The system uses Google Colab for running and visualizing the barcode processing pipeline efficiently.</a:t>
            </a:r>
            <a:endParaRPr lang="en-US"/>
          </a:p>
          <a:p>
            <a:pPr marL="0" indent="0">
              <a:spcBef>
                <a:spcPts val="2500"/>
              </a:spcBef>
              <a:buFont typeface="Arial" panose="020B0604020202020204" pitchFamily="34" charset="0"/>
              <a:buNone/>
            </a:pPr>
            <a:r>
              <a:rPr lang="en-US" b="1"/>
              <a:t>Modular Pipeline Design</a:t>
            </a:r>
          </a:p>
          <a:p>
            <a:pPr marL="0" lvl="1" indent="0">
              <a:buFont typeface="Arial" panose="020B0604020202020204" pitchFamily="34" charset="0"/>
              <a:buNone/>
            </a:pPr>
            <a:r>
              <a:t>The pipeline is modular, enabling easy adjustments for various barcode densities and image resolutions.</a:t>
            </a:r>
            <a:endParaRPr lang="en-US"/>
          </a:p>
        </p:txBody>
      </p:sp>
      <p:pic>
        <p:nvPicPr>
          <p:cNvPr id="5" name="Content Placeholder 4" descr="Bar Code as a background">
            <a:extLst>
              <a:ext uri="{FF2B5EF4-FFF2-40B4-BE49-F238E27FC236}">
                <a16:creationId xmlns:a16="http://schemas.microsoft.com/office/drawing/2014/main" id="{59ADF691-9664-454B-8428-8887C9BCF330}"/>
              </a:ext>
            </a:extLst>
          </p:cNvPr>
          <p:cNvPicPr>
            <a:picLocks noGrp="1" noChangeAspect="1"/>
          </p:cNvPicPr>
          <p:nvPr>
            <p:ph type="pic" sz="quarter" idx="13"/>
          </p:nvPr>
        </p:nvPicPr>
        <p:blipFill>
          <a:blip r:embed="rId3"/>
          <a:srcRect l="27281" r="32810"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09822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97C3-B55F-AA04-EC25-63D1C4713FAD}"/>
              </a:ext>
            </a:extLst>
          </p:cNvPr>
          <p:cNvSpPr>
            <a:spLocks noGrp="1"/>
          </p:cNvSpPr>
          <p:nvPr>
            <p:ph type="ctrTitle"/>
          </p:nvPr>
        </p:nvSpPr>
        <p:spPr>
          <a:xfrm>
            <a:off x="609600" y="990600"/>
            <a:ext cx="10058400" cy="5029200"/>
          </a:xfrm>
        </p:spPr>
        <p:txBody>
          <a:bodyPr anchor="b">
            <a:normAutofit/>
          </a:bodyPr>
          <a:lstStyle/>
          <a:p>
            <a:r>
              <a:rPr lang="en-US"/>
              <a:t>Pipeline Architecture</a:t>
            </a:r>
          </a:p>
        </p:txBody>
      </p:sp>
    </p:spTree>
    <p:extLst>
      <p:ext uri="{BB962C8B-B14F-4D97-AF65-F5344CB8AC3E}">
        <p14:creationId xmlns:p14="http://schemas.microsoft.com/office/powerpoint/2010/main" val="2607927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F26A9-E9F8-9276-DBDD-346677F8BF98}"/>
              </a:ext>
            </a:extLst>
          </p:cNvPr>
          <p:cNvSpPr>
            <a:spLocks noGrp="1"/>
          </p:cNvSpPr>
          <p:nvPr>
            <p:ph type="title"/>
          </p:nvPr>
        </p:nvSpPr>
        <p:spPr>
          <a:xfrm>
            <a:off x="609599" y="685800"/>
            <a:ext cx="4564763" cy="1426798"/>
          </a:xfrm>
        </p:spPr>
        <p:txBody>
          <a:bodyPr anchor="b">
            <a:normAutofit/>
          </a:bodyPr>
          <a:lstStyle/>
          <a:p>
            <a:r>
              <a:rPr lang="en-US"/>
              <a:t>Stages of Processing</a:t>
            </a:r>
          </a:p>
        </p:txBody>
      </p:sp>
      <p:pic>
        <p:nvPicPr>
          <p:cNvPr id="5" name="Content Placeholder 4" descr="4K Resolution">
            <a:extLst>
              <a:ext uri="{FF2B5EF4-FFF2-40B4-BE49-F238E27FC236}">
                <a16:creationId xmlns:a16="http://schemas.microsoft.com/office/drawing/2014/main" id="{2AFC7ECA-C35F-4DF9-9AAA-78712602490F}"/>
              </a:ext>
            </a:extLst>
          </p:cNvPr>
          <p:cNvPicPr>
            <a:picLocks noGrp="1" noChangeAspect="1"/>
          </p:cNvPicPr>
          <p:nvPr>
            <p:ph type="pic" sz="quarter" idx="15"/>
          </p:nvPr>
        </p:nvPicPr>
        <p:blipFill>
          <a:blip r:embed="rId3"/>
          <a:stretch/>
        </p:blipFill>
        <p:spPr>
          <a:xfrm>
            <a:off x="609599" y="3049059"/>
            <a:ext cx="4564763" cy="2567679"/>
          </a:xfrm>
          <a:prstGeom prst="rect">
            <a:avLst/>
          </a:prstGeom>
          <a:noFill/>
        </p:spPr>
      </p:pic>
      <p:sp>
        <p:nvSpPr>
          <p:cNvPr id="4" name="Content Placeholder 3">
            <a:extLst>
              <a:ext uri="{FF2B5EF4-FFF2-40B4-BE49-F238E27FC236}">
                <a16:creationId xmlns:a16="http://schemas.microsoft.com/office/drawing/2014/main" id="{0BDB7436-55BA-5CBE-8686-82DF4E1D18F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Image Loading and Preprocessing</a:t>
            </a:r>
          </a:p>
          <a:p>
            <a:pPr marL="0" lvl="1" indent="0">
              <a:buFont typeface="Arial" panose="020B0604020202020204" pitchFamily="34" charset="0"/>
              <a:buNone/>
            </a:pPr>
            <a:r>
              <a:t>Initial stage involves loading images followed by grayscale conversion and Gaussian blur to reduce noise.</a:t>
            </a:r>
            <a:endParaRPr lang="en-US"/>
          </a:p>
          <a:p>
            <a:pPr marL="0" indent="0">
              <a:spcBef>
                <a:spcPts val="2500"/>
              </a:spcBef>
              <a:buFont typeface="Arial" panose="020B0604020202020204" pitchFamily="34" charset="0"/>
              <a:buNone/>
            </a:pPr>
            <a:r>
              <a:rPr lang="en-US" b="1"/>
              <a:t>Gradient Computation and Thresholding</a:t>
            </a:r>
          </a:p>
          <a:p>
            <a:pPr marL="0" lvl="1" indent="0">
              <a:buFont typeface="Arial" panose="020B0604020202020204" pitchFamily="34" charset="0"/>
              <a:buNone/>
            </a:pPr>
            <a:r>
              <a:t>Sobel operators compute image gradients, followed by Otsu's thresholding to segment barcode regions.</a:t>
            </a:r>
            <a:endParaRPr lang="en-US"/>
          </a:p>
          <a:p>
            <a:pPr marL="0" indent="0">
              <a:spcBef>
                <a:spcPts val="2500"/>
              </a:spcBef>
              <a:buFont typeface="Arial" panose="020B0604020202020204" pitchFamily="34" charset="0"/>
              <a:buNone/>
            </a:pPr>
            <a:r>
              <a:rPr lang="en-US" b="1"/>
              <a:t>Morphological Operations and Contour Extraction</a:t>
            </a:r>
          </a:p>
          <a:p>
            <a:pPr marL="0" lvl="1" indent="0">
              <a:buFont typeface="Arial" panose="020B0604020202020204" pitchFamily="34" charset="0"/>
              <a:buNone/>
            </a:pPr>
            <a:r>
              <a:t>Noise is removed using morphological operations, then contours are extracted for potential barcode candidates.</a:t>
            </a:r>
            <a:endParaRPr lang="en-US"/>
          </a:p>
          <a:p>
            <a:pPr marL="0" indent="0">
              <a:spcBef>
                <a:spcPts val="2500"/>
              </a:spcBef>
              <a:buFont typeface="Arial" panose="020B0604020202020204" pitchFamily="34" charset="0"/>
              <a:buNone/>
            </a:pPr>
            <a:r>
              <a:rPr lang="en-US" b="1"/>
              <a:t>Candidate Validation and Detection Refinement</a:t>
            </a:r>
          </a:p>
          <a:p>
            <a:pPr marL="0" lvl="1" indent="0">
              <a:buFont typeface="Arial" panose="020B0604020202020204" pitchFamily="34" charset="0"/>
              <a:buNone/>
            </a:pPr>
            <a:r>
              <a:t>Valid candidates undergo large contour splitting and non-maximum suppression to finalize barcode detection.</a:t>
            </a:r>
            <a:endParaRPr lang="en-US"/>
          </a:p>
        </p:txBody>
      </p:sp>
    </p:spTree>
    <p:extLst>
      <p:ext uri="{BB962C8B-B14F-4D97-AF65-F5344CB8AC3E}">
        <p14:creationId xmlns:p14="http://schemas.microsoft.com/office/powerpoint/2010/main" val="34034203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EF08A-4E47-3BE4-E97A-261332A3632B}"/>
              </a:ext>
            </a:extLst>
          </p:cNvPr>
          <p:cNvSpPr>
            <a:spLocks noGrp="1"/>
          </p:cNvSpPr>
          <p:nvPr>
            <p:ph type="ctrTitle"/>
          </p:nvPr>
        </p:nvSpPr>
        <p:spPr>
          <a:xfrm>
            <a:off x="609600" y="990600"/>
            <a:ext cx="10058400" cy="5029200"/>
          </a:xfrm>
        </p:spPr>
        <p:txBody>
          <a:bodyPr anchor="b">
            <a:normAutofit/>
          </a:bodyPr>
          <a:lstStyle/>
          <a:p>
            <a:r>
              <a:rPr lang="en-US"/>
              <a:t>Step-by-Step Process</a:t>
            </a:r>
          </a:p>
        </p:txBody>
      </p:sp>
    </p:spTree>
    <p:extLst>
      <p:ext uri="{BB962C8B-B14F-4D97-AF65-F5344CB8AC3E}">
        <p14:creationId xmlns:p14="http://schemas.microsoft.com/office/powerpoint/2010/main" val="4185812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7257EB2-5A6C-429F-2ABA-3AADFC998DD4}"/>
              </a:ext>
            </a:extLst>
          </p:cNvPr>
          <p:cNvSpPr/>
          <p:nvPr/>
        </p:nvSpPr>
        <p:spPr>
          <a:xfrm>
            <a:off x="0" y="20320"/>
            <a:ext cx="6096000" cy="683768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86C381-2527-E4ED-18DC-C92F3607E9BC}"/>
              </a:ext>
            </a:extLst>
          </p:cNvPr>
          <p:cNvSpPr>
            <a:spLocks noGrp="1"/>
          </p:cNvSpPr>
          <p:nvPr>
            <p:ph type="title"/>
          </p:nvPr>
        </p:nvSpPr>
        <p:spPr>
          <a:xfrm>
            <a:off x="6599006" y="40640"/>
            <a:ext cx="6014720" cy="1371264"/>
          </a:xfrm>
        </p:spPr>
        <p:txBody>
          <a:bodyPr anchor="b">
            <a:normAutofit/>
          </a:bodyPr>
          <a:lstStyle/>
          <a:p>
            <a:r>
              <a:rPr lang="en-US" sz="5000" dirty="0"/>
              <a:t>Step 0: Imports</a:t>
            </a:r>
          </a:p>
        </p:txBody>
      </p:sp>
      <p:sp>
        <p:nvSpPr>
          <p:cNvPr id="4" name="Content Placeholder 3">
            <a:extLst>
              <a:ext uri="{FF2B5EF4-FFF2-40B4-BE49-F238E27FC236}">
                <a16:creationId xmlns:a16="http://schemas.microsoft.com/office/drawing/2014/main" id="{BB8A6843-3D29-EE61-3CC2-C1874706ED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25534" y="1813168"/>
            <a:ext cx="4561665" cy="3886200"/>
          </a:xfrm>
        </p:spPr>
        <p:txBody>
          <a:bodyPr>
            <a:normAutofit/>
          </a:bodyPr>
          <a:lstStyle/>
          <a:p>
            <a:pPr marL="0" indent="0">
              <a:spcBef>
                <a:spcPts val="2500"/>
              </a:spcBef>
              <a:buFont typeface="Arial" panose="020B0604020202020204" pitchFamily="34" charset="0"/>
              <a:buNone/>
            </a:pPr>
            <a:r>
              <a:rPr lang="en-US" sz="2000" b="1" dirty="0"/>
              <a:t>Essential Libraries Imported</a:t>
            </a:r>
          </a:p>
          <a:p>
            <a:pPr marL="0" lvl="1" indent="0">
              <a:buFont typeface="Arial" panose="020B0604020202020204" pitchFamily="34" charset="0"/>
              <a:buNone/>
            </a:pPr>
            <a:r>
              <a:rPr sz="2000" dirty="0"/>
              <a:t>OpenCV, NumPy, and Matplotlib are imported for image processing, numerical operations, and visualization respectively.</a:t>
            </a:r>
            <a:endParaRPr lang="en-US" sz="2000" dirty="0"/>
          </a:p>
          <a:p>
            <a:pPr marL="0" indent="0">
              <a:spcBef>
                <a:spcPts val="2500"/>
              </a:spcBef>
              <a:buFont typeface="Arial" panose="020B0604020202020204" pitchFamily="34" charset="0"/>
              <a:buNone/>
            </a:pPr>
            <a:r>
              <a:rPr lang="en-US" sz="2000" b="1" dirty="0"/>
              <a:t>Environment Setup Importance</a:t>
            </a:r>
          </a:p>
          <a:p>
            <a:pPr marL="0" lvl="1" indent="0">
              <a:buFont typeface="Arial" panose="020B0604020202020204" pitchFamily="34" charset="0"/>
              <a:buNone/>
            </a:pPr>
            <a:r>
              <a:rPr sz="2000" dirty="0"/>
              <a:t>Proper setup of the programming environment ensures smooth execution of all subsequent analysis steps.</a:t>
            </a:r>
            <a:endParaRPr lang="en-US" sz="2000" dirty="0"/>
          </a:p>
        </p:txBody>
      </p:sp>
      <p:pic>
        <p:nvPicPr>
          <p:cNvPr id="16" name="Picture 15">
            <a:extLst>
              <a:ext uri="{FF2B5EF4-FFF2-40B4-BE49-F238E27FC236}">
                <a16:creationId xmlns:a16="http://schemas.microsoft.com/office/drawing/2014/main" id="{50FA6AB5-882C-1AFC-4186-CBECD9222BE5}"/>
              </a:ext>
            </a:extLst>
          </p:cNvPr>
          <p:cNvPicPr>
            <a:picLocks noChangeAspect="1"/>
          </p:cNvPicPr>
          <p:nvPr/>
        </p:nvPicPr>
        <p:blipFill>
          <a:blip r:embed="rId3"/>
          <a:stretch>
            <a:fillRect/>
          </a:stretch>
        </p:blipFill>
        <p:spPr>
          <a:xfrm>
            <a:off x="89126" y="2384864"/>
            <a:ext cx="6006874" cy="2108592"/>
          </a:xfrm>
          <a:prstGeom prst="rect">
            <a:avLst/>
          </a:prstGeom>
        </p:spPr>
      </p:pic>
    </p:spTree>
    <p:extLst>
      <p:ext uri="{BB962C8B-B14F-4D97-AF65-F5344CB8AC3E}">
        <p14:creationId xmlns:p14="http://schemas.microsoft.com/office/powerpoint/2010/main" val="2735596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8C00-E8AB-4EFA-F53B-BB7954930DF5}"/>
              </a:ext>
            </a:extLst>
          </p:cNvPr>
          <p:cNvSpPr>
            <a:spLocks noGrp="1"/>
          </p:cNvSpPr>
          <p:nvPr>
            <p:ph type="title"/>
          </p:nvPr>
        </p:nvSpPr>
        <p:spPr>
          <a:xfrm>
            <a:off x="7010400" y="685800"/>
            <a:ext cx="4561665" cy="1371264"/>
          </a:xfrm>
        </p:spPr>
        <p:txBody>
          <a:bodyPr anchor="b">
            <a:normAutofit/>
          </a:bodyPr>
          <a:lstStyle/>
          <a:p>
            <a:r>
              <a:rPr lang="en-US" sz="3400" dirty="0"/>
              <a:t>Step 1: Image Loading &amp; Preview</a:t>
            </a:r>
          </a:p>
        </p:txBody>
      </p:sp>
      <p:sp>
        <p:nvSpPr>
          <p:cNvPr id="4" name="Content Placeholder 3">
            <a:extLst>
              <a:ext uri="{FF2B5EF4-FFF2-40B4-BE49-F238E27FC236}">
                <a16:creationId xmlns:a16="http://schemas.microsoft.com/office/drawing/2014/main" id="{B34BD5A6-D4B0-2333-D566-1B198E7F3AA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dirty="0"/>
              <a:t>Loading Image with OpenCV</a:t>
            </a:r>
          </a:p>
          <a:p>
            <a:pPr marL="0" lvl="1" indent="0">
              <a:buFont typeface="Arial" panose="020B0604020202020204" pitchFamily="34" charset="0"/>
              <a:buNone/>
            </a:pPr>
            <a:r>
              <a:rPr dirty="0"/>
              <a:t>The image is loaded using OpenCV's </a:t>
            </a:r>
            <a:r>
              <a:rPr dirty="0" err="1"/>
              <a:t>imread</a:t>
            </a:r>
            <a:r>
              <a:rPr dirty="0"/>
              <a:t> function to ensure correct input retrieval.</a:t>
            </a:r>
            <a:endParaRPr lang="en-US" dirty="0"/>
          </a:p>
          <a:p>
            <a:pPr marL="0" indent="0">
              <a:spcBef>
                <a:spcPts val="2500"/>
              </a:spcBef>
              <a:buFont typeface="Arial" panose="020B0604020202020204" pitchFamily="34" charset="0"/>
              <a:buNone/>
            </a:pPr>
            <a:r>
              <a:rPr lang="en-US" b="1" dirty="0"/>
              <a:t>Verification by Preview</a:t>
            </a:r>
          </a:p>
          <a:p>
            <a:pPr marL="0" lvl="1" indent="0">
              <a:buFont typeface="Arial" panose="020B0604020202020204" pitchFamily="34" charset="0"/>
              <a:buNone/>
            </a:pPr>
            <a:r>
              <a:rPr dirty="0"/>
              <a:t>Displaying the image allows verification that the input was read correctly before further processing.</a:t>
            </a:r>
            <a:endParaRPr lang="en-US" dirty="0"/>
          </a:p>
          <a:p>
            <a:pPr marL="0" indent="0">
              <a:spcBef>
                <a:spcPts val="2500"/>
              </a:spcBef>
              <a:buFont typeface="Arial" panose="020B0604020202020204" pitchFamily="34" charset="0"/>
              <a:buNone/>
            </a:pPr>
            <a:r>
              <a:rPr lang="en-US" b="1" dirty="0"/>
              <a:t>Dimension Check and Resizing</a:t>
            </a:r>
          </a:p>
          <a:p>
            <a:pPr marL="0" lvl="1" indent="0">
              <a:buFont typeface="Arial" panose="020B0604020202020204" pitchFamily="34" charset="0"/>
              <a:buNone/>
            </a:pPr>
            <a:r>
              <a:rPr dirty="0"/>
              <a:t>Checking image dimensions and resizing large images speeds up processing and optimizes performance</a:t>
            </a:r>
            <a:r>
              <a:rPr lang="en-US" dirty="0"/>
              <a:t>.</a:t>
            </a:r>
          </a:p>
        </p:txBody>
      </p:sp>
      <p:sp>
        <p:nvSpPr>
          <p:cNvPr id="10" name="Picture Placeholder 9">
            <a:extLst>
              <a:ext uri="{FF2B5EF4-FFF2-40B4-BE49-F238E27FC236}">
                <a16:creationId xmlns:a16="http://schemas.microsoft.com/office/drawing/2014/main" id="{5C5DAA84-DC41-3BE8-9EE8-7D87DCD2268B}"/>
              </a:ext>
            </a:extLst>
          </p:cNvPr>
          <p:cNvSpPr>
            <a:spLocks noGrp="1"/>
          </p:cNvSpPr>
          <p:nvPr>
            <p:ph type="pic" sz="quarter" idx="15"/>
          </p:nvPr>
        </p:nvSpPr>
        <p:spPr/>
        <p:txBody>
          <a:bodyPr/>
          <a:lstStyle/>
          <a:p>
            <a:endParaRPr lang="en-US"/>
          </a:p>
        </p:txBody>
      </p:sp>
      <p:sp>
        <p:nvSpPr>
          <p:cNvPr id="11" name="Rectangle 10">
            <a:extLst>
              <a:ext uri="{FF2B5EF4-FFF2-40B4-BE49-F238E27FC236}">
                <a16:creationId xmlns:a16="http://schemas.microsoft.com/office/drawing/2014/main" id="{B2A90E19-206A-8184-E7EE-57A8FAB953E7}"/>
              </a:ext>
            </a:extLst>
          </p:cNvPr>
          <p:cNvSpPr/>
          <p:nvPr/>
        </p:nvSpPr>
        <p:spPr>
          <a:xfrm>
            <a:off x="0" y="20320"/>
            <a:ext cx="6390464" cy="683768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2DE0585-EB6B-CFE5-A0DA-53A35FDEDF85}"/>
              </a:ext>
            </a:extLst>
          </p:cNvPr>
          <p:cNvPicPr>
            <a:picLocks noChangeAspect="1"/>
          </p:cNvPicPr>
          <p:nvPr/>
        </p:nvPicPr>
        <p:blipFill>
          <a:blip r:embed="rId3"/>
          <a:stretch>
            <a:fillRect/>
          </a:stretch>
        </p:blipFill>
        <p:spPr>
          <a:xfrm>
            <a:off x="39786" y="888961"/>
            <a:ext cx="6350678" cy="3815528"/>
          </a:xfrm>
          <a:prstGeom prst="rect">
            <a:avLst/>
          </a:prstGeom>
        </p:spPr>
      </p:pic>
    </p:spTree>
    <p:extLst>
      <p:ext uri="{BB962C8B-B14F-4D97-AF65-F5344CB8AC3E}">
        <p14:creationId xmlns:p14="http://schemas.microsoft.com/office/powerpoint/2010/main" val="34484564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12E44-C45C-C920-8A8B-45FF42D6CAAB}"/>
              </a:ext>
            </a:extLst>
          </p:cNvPr>
          <p:cNvSpPr>
            <a:spLocks noGrp="1"/>
          </p:cNvSpPr>
          <p:nvPr>
            <p:ph type="title"/>
          </p:nvPr>
        </p:nvSpPr>
        <p:spPr>
          <a:xfrm>
            <a:off x="7010400" y="685800"/>
            <a:ext cx="4561665" cy="1371264"/>
          </a:xfrm>
        </p:spPr>
        <p:txBody>
          <a:bodyPr anchor="b">
            <a:normAutofit/>
          </a:bodyPr>
          <a:lstStyle/>
          <a:p>
            <a:r>
              <a:rPr lang="en-US" sz="3400"/>
              <a:t>Step 2: Preprocessing &amp; Gradient</a:t>
            </a:r>
          </a:p>
        </p:txBody>
      </p:sp>
      <p:sp>
        <p:nvSpPr>
          <p:cNvPr id="4" name="Content Placeholder 3">
            <a:extLst>
              <a:ext uri="{FF2B5EF4-FFF2-40B4-BE49-F238E27FC236}">
                <a16:creationId xmlns:a16="http://schemas.microsoft.com/office/drawing/2014/main" id="{64DB683A-A6B0-16E0-5286-3E9B9C1F984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Grayscale Conversion</a:t>
            </a:r>
          </a:p>
          <a:p>
            <a:pPr marL="0" lvl="1" indent="0">
              <a:buFont typeface="Arial" panose="020B0604020202020204" pitchFamily="34" charset="0"/>
              <a:buNone/>
            </a:pPr>
            <a:r>
              <a:rPr lang="en-US"/>
              <a:t>Converting the image to grayscale simplifies processing by reducing color complexity and focusing on intensity.</a:t>
            </a:r>
          </a:p>
          <a:p>
            <a:pPr marL="0" indent="0">
              <a:spcBef>
                <a:spcPts val="2500"/>
              </a:spcBef>
              <a:buFont typeface="Arial" panose="020B0604020202020204" pitchFamily="34" charset="0"/>
              <a:buNone/>
            </a:pPr>
            <a:r>
              <a:rPr lang="en-US" b="1"/>
              <a:t>Noise Reduction</a:t>
            </a:r>
          </a:p>
          <a:p>
            <a:pPr marL="0" lvl="1" indent="0">
              <a:buFont typeface="Arial" panose="020B0604020202020204" pitchFamily="34" charset="0"/>
              <a:buNone/>
            </a:pPr>
            <a:r>
              <a:rPr lang="en-US"/>
              <a:t>Applying Gaussian blur smooths the image to reduce noise and improve edge detection accuracy.</a:t>
            </a:r>
          </a:p>
          <a:p>
            <a:pPr marL="0" indent="0">
              <a:spcBef>
                <a:spcPts val="2500"/>
              </a:spcBef>
              <a:buFont typeface="Arial" panose="020B0604020202020204" pitchFamily="34" charset="0"/>
              <a:buNone/>
            </a:pPr>
            <a:r>
              <a:rPr lang="en-US" b="1"/>
              <a:t>Gradient Computation</a:t>
            </a:r>
          </a:p>
          <a:p>
            <a:pPr marL="0" lvl="1" indent="0">
              <a:buFont typeface="Arial" panose="020B0604020202020204" pitchFamily="34" charset="0"/>
              <a:buNone/>
            </a:pPr>
            <a:r>
              <a:rPr lang="en-US"/>
              <a:t>Sobel operators calculate horizontal and vertical gradients to detect edges and highlight barcode stripes.</a:t>
            </a:r>
          </a:p>
        </p:txBody>
      </p:sp>
      <p:sp>
        <p:nvSpPr>
          <p:cNvPr id="10" name="Picture Placeholder 9">
            <a:extLst>
              <a:ext uri="{FF2B5EF4-FFF2-40B4-BE49-F238E27FC236}">
                <a16:creationId xmlns:a16="http://schemas.microsoft.com/office/drawing/2014/main" id="{A6C710C4-AFD3-DDA4-F5E4-087C9FD155FD}"/>
              </a:ext>
            </a:extLst>
          </p:cNvPr>
          <p:cNvSpPr>
            <a:spLocks noGrp="1"/>
          </p:cNvSpPr>
          <p:nvPr>
            <p:ph type="pic" sz="quarter" idx="15"/>
          </p:nvPr>
        </p:nvSpPr>
        <p:spPr/>
        <p:txBody>
          <a:bodyPr/>
          <a:lstStyle/>
          <a:p>
            <a:endParaRPr lang="en-US"/>
          </a:p>
        </p:txBody>
      </p:sp>
      <p:sp>
        <p:nvSpPr>
          <p:cNvPr id="11" name="Rectangle 10">
            <a:extLst>
              <a:ext uri="{FF2B5EF4-FFF2-40B4-BE49-F238E27FC236}">
                <a16:creationId xmlns:a16="http://schemas.microsoft.com/office/drawing/2014/main" id="{03804248-AC59-01C5-D23D-F9661A52FDFF}"/>
              </a:ext>
            </a:extLst>
          </p:cNvPr>
          <p:cNvSpPr/>
          <p:nvPr/>
        </p:nvSpPr>
        <p:spPr>
          <a:xfrm>
            <a:off x="0" y="20320"/>
            <a:ext cx="6390464" cy="683768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503C034-E2D0-71E7-DB50-97CC82FC9256}"/>
              </a:ext>
            </a:extLst>
          </p:cNvPr>
          <p:cNvPicPr>
            <a:picLocks noChangeAspect="1"/>
          </p:cNvPicPr>
          <p:nvPr/>
        </p:nvPicPr>
        <p:blipFill>
          <a:blip r:embed="rId3"/>
          <a:stretch>
            <a:fillRect/>
          </a:stretch>
        </p:blipFill>
        <p:spPr>
          <a:xfrm>
            <a:off x="7823" y="947380"/>
            <a:ext cx="6382641" cy="5115639"/>
          </a:xfrm>
          <a:prstGeom prst="rect">
            <a:avLst/>
          </a:prstGeom>
        </p:spPr>
      </p:pic>
    </p:spTree>
    <p:extLst>
      <p:ext uri="{BB962C8B-B14F-4D97-AF65-F5344CB8AC3E}">
        <p14:creationId xmlns:p14="http://schemas.microsoft.com/office/powerpoint/2010/main" val="39625203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24F63-04A9-2E63-F49E-9AC80F97913F}"/>
              </a:ext>
            </a:extLst>
          </p:cNvPr>
          <p:cNvSpPr>
            <a:spLocks noGrp="1"/>
          </p:cNvSpPr>
          <p:nvPr>
            <p:ph type="title"/>
          </p:nvPr>
        </p:nvSpPr>
        <p:spPr>
          <a:xfrm>
            <a:off x="8212664" y="687787"/>
            <a:ext cx="3363259" cy="1993392"/>
          </a:xfrm>
        </p:spPr>
        <p:txBody>
          <a:bodyPr anchor="b">
            <a:normAutofit/>
          </a:bodyPr>
          <a:lstStyle/>
          <a:p>
            <a:r>
              <a:rPr lang="en-US" sz="3400"/>
              <a:t>Step 3: Thresholding &amp; Morphology</a:t>
            </a:r>
          </a:p>
        </p:txBody>
      </p:sp>
      <p:sp>
        <p:nvSpPr>
          <p:cNvPr id="4" name="Content Placeholder 3">
            <a:extLst>
              <a:ext uri="{FF2B5EF4-FFF2-40B4-BE49-F238E27FC236}">
                <a16:creationId xmlns:a16="http://schemas.microsoft.com/office/drawing/2014/main" id="{03F470A3-45AA-54C8-452D-9CECFB7AA6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791" y="2880360"/>
            <a:ext cx="3363259" cy="3274612"/>
          </a:xfrm>
        </p:spPr>
        <p:txBody>
          <a:bodyPr>
            <a:normAutofit/>
          </a:bodyPr>
          <a:lstStyle/>
          <a:p>
            <a:pPr marL="0" indent="0">
              <a:lnSpc>
                <a:spcPct val="90000"/>
              </a:lnSpc>
              <a:spcBef>
                <a:spcPts val="2500"/>
              </a:spcBef>
              <a:buFont typeface="Arial" panose="020B0604020202020204" pitchFamily="34" charset="0"/>
              <a:buNone/>
            </a:pPr>
            <a:r>
              <a:rPr lang="en-US" b="1"/>
              <a:t>Otsu’s Thresholding</a:t>
            </a:r>
          </a:p>
          <a:p>
            <a:pPr marL="0" lvl="1" indent="0">
              <a:lnSpc>
                <a:spcPct val="90000"/>
              </a:lnSpc>
              <a:buFont typeface="Arial" panose="020B0604020202020204" pitchFamily="34" charset="0"/>
              <a:buNone/>
            </a:pPr>
            <a:r>
              <a:t>Otsu's method converts gradient images into binary masks highlighting barcode edges from the background.</a:t>
            </a:r>
            <a:endParaRPr lang="en-US"/>
          </a:p>
          <a:p>
            <a:pPr marL="0" indent="0">
              <a:lnSpc>
                <a:spcPct val="90000"/>
              </a:lnSpc>
              <a:spcBef>
                <a:spcPts val="2500"/>
              </a:spcBef>
              <a:buFont typeface="Arial" panose="020B0604020202020204" pitchFamily="34" charset="0"/>
              <a:buNone/>
            </a:pPr>
            <a:r>
              <a:rPr lang="en-US" b="1"/>
              <a:t>Morphological Closing</a:t>
            </a:r>
          </a:p>
          <a:p>
            <a:pPr marL="0" lvl="1" indent="0">
              <a:lnSpc>
                <a:spcPct val="90000"/>
              </a:lnSpc>
              <a:buFont typeface="Arial" panose="020B0604020202020204" pitchFamily="34" charset="0"/>
              <a:buNone/>
            </a:pPr>
            <a:r>
              <a:t>Morphological closing fills small gaps within barcode stripes to create continuous edges.</a:t>
            </a:r>
            <a:endParaRPr lang="en-US"/>
          </a:p>
          <a:p>
            <a:pPr marL="0" indent="0">
              <a:lnSpc>
                <a:spcPct val="90000"/>
              </a:lnSpc>
              <a:spcBef>
                <a:spcPts val="2500"/>
              </a:spcBef>
              <a:buFont typeface="Arial" panose="020B0604020202020204" pitchFamily="34" charset="0"/>
              <a:buNone/>
            </a:pPr>
            <a:r>
              <a:rPr lang="en-US" b="1"/>
              <a:t>Morphological Opening</a:t>
            </a:r>
          </a:p>
          <a:p>
            <a:pPr marL="0" lvl="1" indent="0">
              <a:lnSpc>
                <a:spcPct val="90000"/>
              </a:lnSpc>
              <a:buFont typeface="Arial" panose="020B0604020202020204" pitchFamily="34" charset="0"/>
              <a:buNone/>
            </a:pPr>
            <a:r>
              <a:t>Morphological opening removes isolated noise ensuring clean barcode masks for contour detection.</a:t>
            </a:r>
            <a:endParaRPr lang="en-US"/>
          </a:p>
        </p:txBody>
      </p:sp>
      <p:pic>
        <p:nvPicPr>
          <p:cNvPr id="11" name="Picture Placeholder 10">
            <a:extLst>
              <a:ext uri="{FF2B5EF4-FFF2-40B4-BE49-F238E27FC236}">
                <a16:creationId xmlns:a16="http://schemas.microsoft.com/office/drawing/2014/main" id="{5369916B-4A36-BDA6-F865-304FE31515F4}"/>
              </a:ext>
            </a:extLst>
          </p:cNvPr>
          <p:cNvPicPr>
            <a:picLocks noGrp="1" noChangeAspect="1"/>
          </p:cNvPicPr>
          <p:nvPr>
            <p:ph type="pic" sz="quarter" idx="13"/>
          </p:nvPr>
        </p:nvPicPr>
        <p:blipFill>
          <a:blip r:embed="rId3"/>
          <a:srcRect t="1058" b="1058"/>
          <a:stretch/>
        </p:blipFill>
        <p:spPr>
          <a:prstGeom prst="rect">
            <a:avLst/>
          </a:prstGeom>
          <a:solidFill>
            <a:srgbClr val="282A2C"/>
          </a:solidFill>
          <a:ln w="12700" cap="flat" cmpd="sng" algn="ctr">
            <a:solidFill>
              <a:srgbClr val="000000">
                <a:shade val="15000"/>
              </a:srgbClr>
            </a:solidFill>
            <a:prstDash val="solid"/>
            <a:miter lim="800000"/>
          </a:ln>
          <a:effectLst/>
        </p:spPr>
        <p:style>
          <a:lnRef idx="2">
            <a:schemeClr val="dk1">
              <a:shade val="15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513636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02C4C-1AE4-5BED-697E-48C44236181B}"/>
              </a:ext>
            </a:extLst>
          </p:cNvPr>
          <p:cNvSpPr>
            <a:spLocks noGrp="1"/>
          </p:cNvSpPr>
          <p:nvPr>
            <p:ph type="title"/>
          </p:nvPr>
        </p:nvSpPr>
        <p:spPr>
          <a:xfrm>
            <a:off x="609599" y="685800"/>
            <a:ext cx="4564763" cy="1426798"/>
          </a:xfrm>
        </p:spPr>
        <p:txBody>
          <a:bodyPr anchor="b">
            <a:normAutofit/>
          </a:bodyPr>
          <a:lstStyle/>
          <a:p>
            <a:r>
              <a:rPr lang="en-US" sz="3000" dirty="0"/>
              <a:t>Step 4: Contour Detection &amp; Candidate Buffering</a:t>
            </a:r>
          </a:p>
        </p:txBody>
      </p:sp>
      <p:sp>
        <p:nvSpPr>
          <p:cNvPr id="4" name="Content Placeholder 3">
            <a:extLst>
              <a:ext uri="{FF2B5EF4-FFF2-40B4-BE49-F238E27FC236}">
                <a16:creationId xmlns:a16="http://schemas.microsoft.com/office/drawing/2014/main" id="{2D846D84-5035-8477-3856-568B43EEC3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Contour Extraction Method</a:t>
            </a:r>
          </a:p>
          <a:p>
            <a:pPr marL="0" lvl="1" indent="0">
              <a:buFont typeface="Arial" panose="020B0604020202020204" pitchFamily="34" charset="0"/>
              <a:buNone/>
            </a:pPr>
            <a:r>
              <a:t>Contours are extracted using external retrieval mode to prevent nested duplicate detection in the binary mask.</a:t>
            </a:r>
            <a:endParaRPr lang="en-US"/>
          </a:p>
          <a:p>
            <a:pPr marL="0" indent="0">
              <a:spcBef>
                <a:spcPts val="2500"/>
              </a:spcBef>
              <a:buFont typeface="Arial" panose="020B0604020202020204" pitchFamily="34" charset="0"/>
              <a:buNone/>
            </a:pPr>
            <a:r>
              <a:rPr lang="en-US" b="1"/>
              <a:t>Contour Analysis Criteria</a:t>
            </a:r>
          </a:p>
          <a:p>
            <a:pPr marL="0" lvl="1" indent="0">
              <a:buFont typeface="Arial" panose="020B0604020202020204" pitchFamily="34" charset="0"/>
              <a:buNone/>
            </a:pPr>
            <a:r>
              <a:t>Each contour is assessed for size and aspect ratio to identify potential barcode regions accurately.</a:t>
            </a:r>
            <a:endParaRPr lang="en-US"/>
          </a:p>
          <a:p>
            <a:pPr marL="0" indent="0">
              <a:spcBef>
                <a:spcPts val="2500"/>
              </a:spcBef>
              <a:buFont typeface="Arial" panose="020B0604020202020204" pitchFamily="34" charset="0"/>
              <a:buNone/>
            </a:pPr>
            <a:r>
              <a:rPr lang="en-US" b="1"/>
              <a:t>Candidate Region Buffering</a:t>
            </a:r>
          </a:p>
          <a:p>
            <a:pPr marL="0" lvl="1" indent="0">
              <a:buFont typeface="Arial" panose="020B0604020202020204" pitchFamily="34" charset="0"/>
              <a:buNone/>
            </a:pPr>
            <a:r>
              <a:t>Potential barcode regions are buffered to prepare for further validation and processing steps.</a:t>
            </a:r>
            <a:endParaRPr lang="en-US"/>
          </a:p>
          <a:p>
            <a:pPr marL="0" indent="0">
              <a:spcBef>
                <a:spcPts val="2500"/>
              </a:spcBef>
              <a:buFont typeface="Arial" panose="020B0604020202020204" pitchFamily="34" charset="0"/>
              <a:buNone/>
            </a:pPr>
            <a:r>
              <a:rPr lang="en-US" b="1"/>
              <a:t>Large-Area Thresholding</a:t>
            </a:r>
          </a:p>
          <a:p>
            <a:pPr marL="0" lvl="1" indent="0">
              <a:buFont typeface="Arial" panose="020B0604020202020204" pitchFamily="34" charset="0"/>
              <a:buNone/>
            </a:pPr>
            <a:r>
              <a:t>Large-area thresholds help identify merged barcodes requiring specialized splitting strategies.</a:t>
            </a:r>
            <a:endParaRPr lang="en-US"/>
          </a:p>
        </p:txBody>
      </p:sp>
      <p:pic>
        <p:nvPicPr>
          <p:cNvPr id="8" name="Picture 7">
            <a:extLst>
              <a:ext uri="{FF2B5EF4-FFF2-40B4-BE49-F238E27FC236}">
                <a16:creationId xmlns:a16="http://schemas.microsoft.com/office/drawing/2014/main" id="{10C2C61E-78BA-7485-10E6-53680A0E31E2}"/>
              </a:ext>
            </a:extLst>
          </p:cNvPr>
          <p:cNvPicPr>
            <a:picLocks noChangeAspect="1"/>
          </p:cNvPicPr>
          <p:nvPr/>
        </p:nvPicPr>
        <p:blipFill>
          <a:blip r:embed="rId3"/>
          <a:stretch>
            <a:fillRect/>
          </a:stretch>
        </p:blipFill>
        <p:spPr>
          <a:xfrm>
            <a:off x="158940" y="2467970"/>
            <a:ext cx="5466080" cy="3704230"/>
          </a:xfrm>
          <a:prstGeom prst="rect">
            <a:avLst/>
          </a:prstGeom>
        </p:spPr>
      </p:pic>
    </p:spTree>
    <p:extLst>
      <p:ext uri="{BB962C8B-B14F-4D97-AF65-F5344CB8AC3E}">
        <p14:creationId xmlns:p14="http://schemas.microsoft.com/office/powerpoint/2010/main" val="24203670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AC734-1C4D-F95D-5341-C78153255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DD0E0-0F0E-5EA8-FA9D-80C35991D441}"/>
              </a:ext>
            </a:extLst>
          </p:cNvPr>
          <p:cNvSpPr>
            <a:spLocks noGrp="1"/>
          </p:cNvSpPr>
          <p:nvPr>
            <p:ph type="title"/>
          </p:nvPr>
        </p:nvSpPr>
        <p:spPr>
          <a:xfrm>
            <a:off x="7010400" y="685800"/>
            <a:ext cx="4561665" cy="1371264"/>
          </a:xfrm>
        </p:spPr>
        <p:txBody>
          <a:bodyPr anchor="b">
            <a:normAutofit/>
          </a:bodyPr>
          <a:lstStyle/>
          <a:p>
            <a:r>
              <a:rPr lang="en-US" sz="3800"/>
              <a:t>Step 5: Validation Functions</a:t>
            </a:r>
          </a:p>
        </p:txBody>
      </p:sp>
      <p:sp>
        <p:nvSpPr>
          <p:cNvPr id="4" name="Content Placeholder 3">
            <a:extLst>
              <a:ext uri="{FF2B5EF4-FFF2-40B4-BE49-F238E27FC236}">
                <a16:creationId xmlns:a16="http://schemas.microsoft.com/office/drawing/2014/main" id="{B39EC235-F337-67BF-C2F7-0C210DD6F2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Contour Validation</a:t>
            </a:r>
          </a:p>
          <a:p>
            <a:pPr marL="0" lvl="1" indent="0">
              <a:buFont typeface="Arial" panose="020B0604020202020204" pitchFamily="34" charset="0"/>
              <a:buNone/>
            </a:pPr>
            <a:r>
              <a:t>Functions remove unrealistic contours based on size, aspect ratio, and shape to ensure accurate detection.</a:t>
            </a:r>
            <a:endParaRPr lang="en-US"/>
          </a:p>
          <a:p>
            <a:pPr marL="0" indent="0">
              <a:spcBef>
                <a:spcPts val="2500"/>
              </a:spcBef>
              <a:buFont typeface="Arial" panose="020B0604020202020204" pitchFamily="34" charset="0"/>
              <a:buNone/>
            </a:pPr>
            <a:r>
              <a:rPr lang="en-US" b="1"/>
              <a:t>IoU and Distance Computation</a:t>
            </a:r>
          </a:p>
          <a:p>
            <a:pPr marL="0" lvl="1" indent="0">
              <a:buFont typeface="Arial" panose="020B0604020202020204" pitchFamily="34" charset="0"/>
              <a:buNone/>
            </a:pPr>
            <a:r>
              <a:t>Utilities compute Intersection over Union and center distances for Non-Maximum Suppression to reduce duplicates.</a:t>
            </a:r>
            <a:endParaRPr lang="en-US"/>
          </a:p>
          <a:p>
            <a:pPr marL="0" indent="0">
              <a:spcBef>
                <a:spcPts val="2500"/>
              </a:spcBef>
              <a:buFont typeface="Arial" panose="020B0604020202020204" pitchFamily="34" charset="0"/>
              <a:buNone/>
            </a:pPr>
            <a:r>
              <a:rPr lang="en-US" b="1"/>
              <a:t>Barcode Splitting Techniques</a:t>
            </a:r>
          </a:p>
          <a:p>
            <a:pPr marL="0" lvl="1" indent="0">
              <a:buFont typeface="Arial" panose="020B0604020202020204" pitchFamily="34" charset="0"/>
              <a:buNone/>
            </a:pPr>
            <a:r>
              <a:t>Splitting merged barcodes is done using erosion, projection analysis, and watershed segmentation methods.</a:t>
            </a:r>
            <a:endParaRPr lang="en-US"/>
          </a:p>
        </p:txBody>
      </p:sp>
      <p:pic>
        <p:nvPicPr>
          <p:cNvPr id="5" name="Picture Placeholder 4">
            <a:extLst>
              <a:ext uri="{FF2B5EF4-FFF2-40B4-BE49-F238E27FC236}">
                <a16:creationId xmlns:a16="http://schemas.microsoft.com/office/drawing/2014/main" id="{019CC318-775A-BA96-3AF9-E49D93D9289B}"/>
              </a:ext>
            </a:extLst>
          </p:cNvPr>
          <p:cNvPicPr>
            <a:picLocks noGrp="1" noChangeAspect="1"/>
          </p:cNvPicPr>
          <p:nvPr>
            <p:ph type="pic" sz="quarter" idx="15"/>
          </p:nvPr>
        </p:nvPicPr>
        <p:blipFill>
          <a:blip r:embed="rId3"/>
          <a:srcRect l="18943" r="18943"/>
          <a:stretch/>
        </p:blipFill>
        <p:spPr>
          <a:prstGeom prst="rect">
            <a:avLst/>
          </a:prstGeom>
          <a:solidFill>
            <a:srgbClr val="282A2C"/>
          </a:solidFill>
          <a:ln w="12700" cap="flat" cmpd="sng" algn="ctr">
            <a:solidFill>
              <a:srgbClr val="000000">
                <a:shade val="15000"/>
              </a:srgbClr>
            </a:solidFill>
            <a:prstDash val="solid"/>
            <a:miter lim="800000"/>
          </a:ln>
          <a:effectLst/>
        </p:spPr>
        <p:style>
          <a:lnRef idx="2">
            <a:schemeClr val="dk1">
              <a:shade val="15000"/>
            </a:schemeClr>
          </a:lnRef>
          <a:fillRef idx="1">
            <a:schemeClr val="dk1"/>
          </a:fillRef>
          <a:effectRef idx="0">
            <a:schemeClr val="dk1"/>
          </a:effectRef>
          <a:fontRef idx="minor">
            <a:schemeClr val="lt1"/>
          </a:fontRef>
        </p:style>
      </p:pic>
    </p:spTree>
    <p:extLst>
      <p:ext uri="{BB962C8B-B14F-4D97-AF65-F5344CB8AC3E}">
        <p14:creationId xmlns:p14="http://schemas.microsoft.com/office/powerpoint/2010/main" val="38769901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1320-97BD-017D-5CFF-FA009555ABA3}"/>
              </a:ext>
            </a:extLst>
          </p:cNvPr>
          <p:cNvSpPr>
            <a:spLocks noGrp="1"/>
          </p:cNvSpPr>
          <p:nvPr>
            <p:ph type="title"/>
          </p:nvPr>
        </p:nvSpPr>
        <p:spPr>
          <a:xfrm>
            <a:off x="6898640" y="147320"/>
            <a:ext cx="5059505" cy="1371264"/>
          </a:xfrm>
        </p:spPr>
        <p:txBody>
          <a:bodyPr anchor="b">
            <a:normAutofit/>
          </a:bodyPr>
          <a:lstStyle/>
          <a:p>
            <a:r>
              <a:rPr lang="en-US" sz="3800" dirty="0"/>
              <a:t>Contour Validation:</a:t>
            </a:r>
          </a:p>
        </p:txBody>
      </p:sp>
      <p:sp>
        <p:nvSpPr>
          <p:cNvPr id="7" name="Picture Placeholder 6">
            <a:extLst>
              <a:ext uri="{FF2B5EF4-FFF2-40B4-BE49-F238E27FC236}">
                <a16:creationId xmlns:a16="http://schemas.microsoft.com/office/drawing/2014/main" id="{DC04C2C8-DB05-069E-36E0-EDC4A07C52E6}"/>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73590B4-47E5-5A6D-7001-497C33A2AEFF}"/>
              </a:ext>
            </a:extLst>
          </p:cNvPr>
          <p:cNvPicPr>
            <a:picLocks noChangeAspect="1"/>
          </p:cNvPicPr>
          <p:nvPr/>
        </p:nvPicPr>
        <p:blipFill>
          <a:blip r:embed="rId3"/>
          <a:stretch>
            <a:fillRect/>
          </a:stretch>
        </p:blipFill>
        <p:spPr>
          <a:xfrm>
            <a:off x="0" y="0"/>
            <a:ext cx="6389688" cy="6858000"/>
          </a:xfrm>
          <a:prstGeom prst="rect">
            <a:avLst/>
          </a:prstGeom>
        </p:spPr>
      </p:pic>
      <p:sp>
        <p:nvSpPr>
          <p:cNvPr id="20" name="Rectangle 5">
            <a:extLst>
              <a:ext uri="{FF2B5EF4-FFF2-40B4-BE49-F238E27FC236}">
                <a16:creationId xmlns:a16="http://schemas.microsoft.com/office/drawing/2014/main" id="{F9C1E079-2A71-437F-CDCC-B66DEC1866AB}"/>
              </a:ext>
            </a:extLst>
          </p:cNvPr>
          <p:cNvSpPr>
            <a:spLocks noGrp="1" noChangeArrowheads="1"/>
          </p:cNvSpPr>
          <p:nvPr>
            <p:ph sz="quarter" idx="14"/>
          </p:nvPr>
        </p:nvSpPr>
        <p:spPr bwMode="auto">
          <a:xfrm>
            <a:off x="6715760" y="2049352"/>
            <a:ext cx="5359312"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Purpose:</a:t>
            </a:r>
            <a:r>
              <a:rPr kumimoji="0" lang="en-US" altLang="en-US" b="0" i="0" u="none" strike="noStrike" cap="none" normalizeH="0" baseline="0" dirty="0">
                <a:ln>
                  <a:noFill/>
                </a:ln>
                <a:solidFill>
                  <a:schemeClr val="tx1"/>
                </a:solidFill>
                <a:effectLst/>
                <a:latin typeface="Arial" panose="020B0604020202020204" pitchFamily="34" charset="0"/>
              </a:rPr>
              <a:t> Ensure detected contours represent valid barcodes before final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Key Checks:</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Size and aspect ratio filtering to remove unrealistic shapes.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Eliminate tiny blobs and overly large regions.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Validate elongated structures typical of 1D barcodes.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Techniques Used:</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Rotated bounding boxes for accurate orientation handling.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Intersection-over-Union (</a:t>
            </a:r>
            <a:r>
              <a:rPr kumimoji="0" lang="en-US" altLang="en-US" b="0" i="0" u="none" strike="noStrike" cap="none" normalizeH="0" baseline="0" dirty="0" err="1">
                <a:ln>
                  <a:noFill/>
                </a:ln>
                <a:solidFill>
                  <a:schemeClr val="tx1"/>
                </a:solidFill>
                <a:effectLst/>
                <a:latin typeface="Arial" panose="020B0604020202020204" pitchFamily="34" charset="0"/>
              </a:rPr>
              <a:t>IoU</a:t>
            </a:r>
            <a:r>
              <a:rPr kumimoji="0" lang="en-US" altLang="en-US" b="0" i="0" u="none" strike="noStrike" cap="none" normalizeH="0" baseline="0" dirty="0">
                <a:ln>
                  <a:noFill/>
                </a:ln>
                <a:solidFill>
                  <a:schemeClr val="tx1"/>
                </a:solidFill>
                <a:effectLst/>
                <a:latin typeface="Arial" panose="020B0604020202020204" pitchFamily="34" charset="0"/>
              </a:rPr>
              <a:t>) and center distance metrics for Non-Maximum Suppression.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Outcome:</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Reduces false positives.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Guarantees each barcode is counted once.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Prepares candidates for splitting and decoding.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522900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D3B20-0376-C4BA-7E09-5E5A976E5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EA63C-3FFC-DF2F-289D-D7F25B3CE14E}"/>
              </a:ext>
            </a:extLst>
          </p:cNvPr>
          <p:cNvSpPr>
            <a:spLocks noGrp="1"/>
          </p:cNvSpPr>
          <p:nvPr>
            <p:ph type="title"/>
          </p:nvPr>
        </p:nvSpPr>
        <p:spPr>
          <a:xfrm>
            <a:off x="7010400" y="685800"/>
            <a:ext cx="4561665" cy="1371264"/>
          </a:xfrm>
        </p:spPr>
        <p:txBody>
          <a:bodyPr anchor="b">
            <a:normAutofit fontScale="90000"/>
          </a:bodyPr>
          <a:lstStyle/>
          <a:p>
            <a:r>
              <a:rPr lang="en-US" sz="4000" b="1" dirty="0" err="1"/>
              <a:t>IoU</a:t>
            </a:r>
            <a:r>
              <a:rPr lang="en-US" sz="4000" b="1" dirty="0"/>
              <a:t> and Distance Computation :</a:t>
            </a:r>
            <a:br>
              <a:rPr lang="en-US" sz="4000" b="1" dirty="0"/>
            </a:br>
            <a:endParaRPr lang="en-US" sz="3800" dirty="0"/>
          </a:p>
        </p:txBody>
      </p:sp>
      <p:sp>
        <p:nvSpPr>
          <p:cNvPr id="4" name="Content Placeholder 3">
            <a:extLst>
              <a:ext uri="{FF2B5EF4-FFF2-40B4-BE49-F238E27FC236}">
                <a16:creationId xmlns:a16="http://schemas.microsoft.com/office/drawing/2014/main" id="{56B5B7D0-A917-00B5-4CD4-E18AAC8422E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66560" y="2057064"/>
            <a:ext cx="4815841" cy="4242136"/>
          </a:xfrm>
        </p:spPr>
        <p:txBody>
          <a:bodyPr>
            <a:normAutofit/>
          </a:bodyPr>
          <a:lstStyle/>
          <a:p>
            <a:r>
              <a:rPr lang="en-US" b="1" dirty="0"/>
              <a:t>Purpose:</a:t>
            </a:r>
            <a:br>
              <a:rPr lang="en-US" dirty="0"/>
            </a:br>
            <a:r>
              <a:rPr lang="en-US" dirty="0"/>
              <a:t>Ensure accurate Non-Maximum Suppression (NMS) by evaluating overlap and proximity between detected barcode candidates.</a:t>
            </a:r>
          </a:p>
          <a:p>
            <a:r>
              <a:rPr lang="en-US" b="1" dirty="0"/>
              <a:t>Key Points:</a:t>
            </a:r>
            <a:endParaRPr lang="en-US" dirty="0"/>
          </a:p>
          <a:p>
            <a:r>
              <a:rPr lang="en-US" b="1" dirty="0"/>
              <a:t>Intersection over Union (</a:t>
            </a:r>
            <a:r>
              <a:rPr lang="en-US" b="1" dirty="0" err="1"/>
              <a:t>IoU</a:t>
            </a:r>
            <a:r>
              <a:rPr lang="en-US" b="1" dirty="0"/>
              <a:t>):</a:t>
            </a:r>
            <a:r>
              <a:rPr lang="en-US" dirty="0"/>
              <a:t> </a:t>
            </a:r>
          </a:p>
          <a:p>
            <a:pPr lvl="1"/>
            <a:r>
              <a:rPr lang="en-US" dirty="0"/>
              <a:t>Measures overlap between bounding boxes.</a:t>
            </a:r>
          </a:p>
          <a:p>
            <a:pPr lvl="1"/>
            <a:r>
              <a:rPr lang="en-US" dirty="0"/>
              <a:t>Helps eliminate redundant detections.</a:t>
            </a:r>
          </a:p>
          <a:p>
            <a:r>
              <a:rPr lang="en-US" b="1" dirty="0"/>
              <a:t>Center Distance Metric:</a:t>
            </a:r>
            <a:r>
              <a:rPr lang="en-US" dirty="0"/>
              <a:t> </a:t>
            </a:r>
          </a:p>
          <a:p>
            <a:pPr lvl="1"/>
            <a:r>
              <a:rPr lang="en-US" dirty="0"/>
              <a:t>Ensures candidates are not too close.</a:t>
            </a:r>
          </a:p>
          <a:p>
            <a:pPr lvl="1"/>
            <a:r>
              <a:rPr lang="en-US" dirty="0"/>
              <a:t>Prevents duplicate detections in clustered regions.</a:t>
            </a:r>
          </a:p>
          <a:p>
            <a:r>
              <a:rPr lang="en-US" b="1" dirty="0"/>
              <a:t>Outcome:</a:t>
            </a:r>
            <a:r>
              <a:rPr lang="en-US" dirty="0"/>
              <a:t> </a:t>
            </a:r>
          </a:p>
          <a:p>
            <a:pPr lvl="1"/>
            <a:r>
              <a:rPr lang="en-US" dirty="0"/>
              <a:t>Improves precision by retaining distinct barcodes only.</a:t>
            </a:r>
          </a:p>
        </p:txBody>
      </p:sp>
      <p:sp>
        <p:nvSpPr>
          <p:cNvPr id="7" name="Picture Placeholder 6">
            <a:extLst>
              <a:ext uri="{FF2B5EF4-FFF2-40B4-BE49-F238E27FC236}">
                <a16:creationId xmlns:a16="http://schemas.microsoft.com/office/drawing/2014/main" id="{31A3EF80-22D3-994D-BCAD-94AC14FC4675}"/>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876F6D8-7BA1-C4D7-1D66-DEAB056C9E55}"/>
              </a:ext>
            </a:extLst>
          </p:cNvPr>
          <p:cNvPicPr>
            <a:picLocks noChangeAspect="1"/>
          </p:cNvPicPr>
          <p:nvPr/>
        </p:nvPicPr>
        <p:blipFill>
          <a:blip r:embed="rId3"/>
          <a:stretch>
            <a:fillRect/>
          </a:stretch>
        </p:blipFill>
        <p:spPr>
          <a:xfrm>
            <a:off x="1" y="71120"/>
            <a:ext cx="6389688" cy="6786880"/>
          </a:xfrm>
          <a:prstGeom prst="rect">
            <a:avLst/>
          </a:prstGeom>
        </p:spPr>
      </p:pic>
    </p:spTree>
    <p:extLst>
      <p:ext uri="{BB962C8B-B14F-4D97-AF65-F5344CB8AC3E}">
        <p14:creationId xmlns:p14="http://schemas.microsoft.com/office/powerpoint/2010/main" val="2506471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8C12A-0DF3-8968-3514-724DCEDD2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A5C9A-CFFD-3C38-8F10-95B8F0581398}"/>
              </a:ext>
            </a:extLst>
          </p:cNvPr>
          <p:cNvSpPr>
            <a:spLocks noGrp="1"/>
          </p:cNvSpPr>
          <p:nvPr>
            <p:ph type="title"/>
          </p:nvPr>
        </p:nvSpPr>
        <p:spPr>
          <a:xfrm>
            <a:off x="7010400" y="685800"/>
            <a:ext cx="4561665" cy="1371264"/>
          </a:xfrm>
        </p:spPr>
        <p:txBody>
          <a:bodyPr anchor="b">
            <a:normAutofit fontScale="90000"/>
          </a:bodyPr>
          <a:lstStyle/>
          <a:p>
            <a:r>
              <a:rPr lang="en-US" sz="4000" dirty="0"/>
              <a:t>Non-Maximum Suppression </a:t>
            </a:r>
            <a:r>
              <a:rPr lang="en-US" sz="4000" b="1" dirty="0"/>
              <a:t>:</a:t>
            </a:r>
            <a:br>
              <a:rPr lang="en-US" sz="4000" b="1" dirty="0"/>
            </a:br>
            <a:endParaRPr lang="en-US" sz="3800" dirty="0"/>
          </a:p>
        </p:txBody>
      </p:sp>
      <p:sp>
        <p:nvSpPr>
          <p:cNvPr id="4" name="Content Placeholder 3">
            <a:extLst>
              <a:ext uri="{FF2B5EF4-FFF2-40B4-BE49-F238E27FC236}">
                <a16:creationId xmlns:a16="http://schemas.microsoft.com/office/drawing/2014/main" id="{CF7F0DF6-7E60-00DF-0AFC-928199EC16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r>
              <a:rPr lang="en-US" b="1" dirty="0"/>
              <a:t>Purpose:</a:t>
            </a:r>
            <a:br>
              <a:rPr lang="en-US" dirty="0"/>
            </a:br>
            <a:r>
              <a:rPr lang="en-US" dirty="0"/>
              <a:t>Visual representation of </a:t>
            </a:r>
            <a:r>
              <a:rPr lang="en-US" dirty="0" err="1"/>
              <a:t>IoU</a:t>
            </a:r>
            <a:r>
              <a:rPr lang="en-US" dirty="0"/>
              <a:t> and distance-based filtering during NMS.</a:t>
            </a:r>
          </a:p>
          <a:p>
            <a:r>
              <a:rPr lang="en-US" b="1" dirty="0"/>
              <a:t>Key Points:</a:t>
            </a:r>
            <a:endParaRPr lang="en-US" dirty="0"/>
          </a:p>
          <a:p>
            <a:r>
              <a:rPr lang="en-US" dirty="0"/>
              <a:t>Overlapping boxes are compared using </a:t>
            </a:r>
            <a:r>
              <a:rPr lang="en-US" dirty="0" err="1"/>
              <a:t>IoU</a:t>
            </a:r>
            <a:r>
              <a:rPr lang="en-US" dirty="0"/>
              <a:t> threshold (e.g., 0.15).</a:t>
            </a:r>
          </a:p>
          <a:p>
            <a:r>
              <a:rPr lang="en-US" dirty="0"/>
              <a:t>Close candidates are filtered using distance threshold (e.g., 50 </a:t>
            </a:r>
            <a:r>
              <a:rPr lang="en-US" dirty="0" err="1"/>
              <a:t>px</a:t>
            </a:r>
            <a:r>
              <a:rPr lang="en-US" dirty="0"/>
              <a:t>).</a:t>
            </a:r>
          </a:p>
          <a:p>
            <a:r>
              <a:rPr lang="en-US" dirty="0"/>
              <a:t>Combined approach ensures robust suppression of duplicates.</a:t>
            </a:r>
          </a:p>
        </p:txBody>
      </p:sp>
      <p:sp>
        <p:nvSpPr>
          <p:cNvPr id="7" name="Picture Placeholder 6">
            <a:extLst>
              <a:ext uri="{FF2B5EF4-FFF2-40B4-BE49-F238E27FC236}">
                <a16:creationId xmlns:a16="http://schemas.microsoft.com/office/drawing/2014/main" id="{50067618-7AE1-999D-3E6E-968A9CF6556F}"/>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46AF883-7287-AACD-1C21-4F4EDFFACC60}"/>
              </a:ext>
            </a:extLst>
          </p:cNvPr>
          <p:cNvPicPr>
            <a:picLocks noChangeAspect="1"/>
          </p:cNvPicPr>
          <p:nvPr/>
        </p:nvPicPr>
        <p:blipFill>
          <a:blip r:embed="rId3"/>
          <a:stretch>
            <a:fillRect/>
          </a:stretch>
        </p:blipFill>
        <p:spPr>
          <a:xfrm>
            <a:off x="-18764" y="0"/>
            <a:ext cx="6408452" cy="6858000"/>
          </a:xfrm>
          <a:prstGeom prst="rect">
            <a:avLst/>
          </a:prstGeom>
        </p:spPr>
      </p:pic>
    </p:spTree>
    <p:extLst>
      <p:ext uri="{BB962C8B-B14F-4D97-AF65-F5344CB8AC3E}">
        <p14:creationId xmlns:p14="http://schemas.microsoft.com/office/powerpoint/2010/main" val="213761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0C123-6B8D-4FF0-7350-E24FEBD0D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526A8-7D70-472A-C3A1-03C672154718}"/>
              </a:ext>
            </a:extLst>
          </p:cNvPr>
          <p:cNvSpPr>
            <a:spLocks noGrp="1"/>
          </p:cNvSpPr>
          <p:nvPr>
            <p:ph type="title"/>
          </p:nvPr>
        </p:nvSpPr>
        <p:spPr>
          <a:xfrm>
            <a:off x="7010400" y="685800"/>
            <a:ext cx="4561665" cy="1371264"/>
          </a:xfrm>
        </p:spPr>
        <p:txBody>
          <a:bodyPr anchor="b">
            <a:normAutofit fontScale="90000"/>
          </a:bodyPr>
          <a:lstStyle/>
          <a:p>
            <a:pPr>
              <a:spcBef>
                <a:spcPts val="2500"/>
              </a:spcBef>
            </a:pPr>
            <a:r>
              <a:rPr lang="en-US" sz="4000" b="1" dirty="0"/>
              <a:t>Barcode Splitting Techniques</a:t>
            </a:r>
          </a:p>
        </p:txBody>
      </p:sp>
      <p:sp>
        <p:nvSpPr>
          <p:cNvPr id="4" name="Content Placeholder 3">
            <a:extLst>
              <a:ext uri="{FF2B5EF4-FFF2-40B4-BE49-F238E27FC236}">
                <a16:creationId xmlns:a16="http://schemas.microsoft.com/office/drawing/2014/main" id="{94845EF3-1D4B-9648-D479-3AFA9404C61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fontScale="92500" lnSpcReduction="10000"/>
          </a:bodyPr>
          <a:lstStyle/>
          <a:p>
            <a:r>
              <a:rPr lang="en-US" b="1" dirty="0"/>
              <a:t>Purpose:</a:t>
            </a:r>
            <a:br>
              <a:rPr lang="en-US" dirty="0"/>
            </a:br>
            <a:r>
              <a:rPr lang="en-US" dirty="0"/>
              <a:t>Handle merged or stacked barcodes by separating them into individual regions.</a:t>
            </a:r>
          </a:p>
          <a:p>
            <a:r>
              <a:rPr lang="en-US" b="1" dirty="0"/>
              <a:t>Techniques Used:</a:t>
            </a:r>
            <a:endParaRPr lang="en-US" dirty="0"/>
          </a:p>
          <a:p>
            <a:r>
              <a:rPr lang="en-US" b="1" dirty="0"/>
              <a:t>Horizontal Erosion:</a:t>
            </a:r>
            <a:r>
              <a:rPr lang="en-US" dirty="0"/>
              <a:t> </a:t>
            </a:r>
          </a:p>
          <a:p>
            <a:pPr lvl="1"/>
            <a:r>
              <a:rPr lang="en-US" dirty="0"/>
              <a:t>Splits side-by-side barcodes.</a:t>
            </a:r>
          </a:p>
          <a:p>
            <a:r>
              <a:rPr lang="en-US" b="1" dirty="0"/>
              <a:t>Projection Analysis:</a:t>
            </a:r>
            <a:r>
              <a:rPr lang="en-US" dirty="0"/>
              <a:t> </a:t>
            </a:r>
          </a:p>
          <a:p>
            <a:pPr lvl="1"/>
            <a:r>
              <a:rPr lang="en-US" dirty="0"/>
              <a:t>Horizontal and vertical projections for stacked barcodes.</a:t>
            </a:r>
          </a:p>
          <a:p>
            <a:r>
              <a:rPr lang="en-US" b="1" dirty="0"/>
              <a:t>Watershed Segmentation:</a:t>
            </a:r>
            <a:r>
              <a:rPr lang="en-US" dirty="0"/>
              <a:t> </a:t>
            </a:r>
          </a:p>
          <a:p>
            <a:pPr lvl="1"/>
            <a:r>
              <a:rPr lang="en-US" dirty="0"/>
              <a:t>Separates overlapping regions using distance transform.</a:t>
            </a:r>
          </a:p>
          <a:p>
            <a:r>
              <a:rPr lang="en-US" b="1" dirty="0"/>
              <a:t>Outcome:</a:t>
            </a:r>
            <a:endParaRPr lang="en-US" dirty="0"/>
          </a:p>
          <a:p>
            <a:r>
              <a:rPr lang="en-US" dirty="0"/>
              <a:t>Improves detection accuracy in complex layouts.</a:t>
            </a:r>
          </a:p>
          <a:p>
            <a:r>
              <a:rPr lang="en-US" dirty="0"/>
              <a:t>Enables decoding of individual barcodes after splitting.</a:t>
            </a:r>
          </a:p>
        </p:txBody>
      </p:sp>
      <p:sp>
        <p:nvSpPr>
          <p:cNvPr id="7" name="Picture Placeholder 6">
            <a:extLst>
              <a:ext uri="{FF2B5EF4-FFF2-40B4-BE49-F238E27FC236}">
                <a16:creationId xmlns:a16="http://schemas.microsoft.com/office/drawing/2014/main" id="{E763AD34-0E0D-F747-B0A6-72A3824CE82E}"/>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57BD3BF8-5431-C7CC-40CC-96216BC11342}"/>
              </a:ext>
            </a:extLst>
          </p:cNvPr>
          <p:cNvPicPr>
            <a:picLocks noChangeAspect="1"/>
          </p:cNvPicPr>
          <p:nvPr/>
        </p:nvPicPr>
        <p:blipFill>
          <a:blip r:embed="rId3"/>
          <a:srcRect l="4770"/>
          <a:stretch>
            <a:fillRect/>
          </a:stretch>
        </p:blipFill>
        <p:spPr>
          <a:xfrm>
            <a:off x="0" y="0"/>
            <a:ext cx="6389688" cy="6858000"/>
          </a:xfrm>
          <a:prstGeom prst="rect">
            <a:avLst/>
          </a:prstGeom>
        </p:spPr>
      </p:pic>
    </p:spTree>
    <p:extLst>
      <p:ext uri="{BB962C8B-B14F-4D97-AF65-F5344CB8AC3E}">
        <p14:creationId xmlns:p14="http://schemas.microsoft.com/office/powerpoint/2010/main" val="700858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E7877-5315-BB58-CD5C-4A4DE445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0BE61-957E-5B58-6A19-1E56194D6B82}"/>
              </a:ext>
            </a:extLst>
          </p:cNvPr>
          <p:cNvSpPr>
            <a:spLocks noGrp="1"/>
          </p:cNvSpPr>
          <p:nvPr>
            <p:ph type="title"/>
          </p:nvPr>
        </p:nvSpPr>
        <p:spPr>
          <a:xfrm>
            <a:off x="7010400" y="685800"/>
            <a:ext cx="4561665" cy="1371264"/>
          </a:xfrm>
        </p:spPr>
        <p:txBody>
          <a:bodyPr anchor="b">
            <a:normAutofit fontScale="90000"/>
          </a:bodyPr>
          <a:lstStyle/>
          <a:p>
            <a:pPr>
              <a:spcBef>
                <a:spcPts val="2500"/>
              </a:spcBef>
            </a:pPr>
            <a:r>
              <a:rPr lang="en-US" sz="4000" b="1" dirty="0"/>
              <a:t>Barcode Splitting Techniques</a:t>
            </a:r>
          </a:p>
        </p:txBody>
      </p:sp>
      <p:sp>
        <p:nvSpPr>
          <p:cNvPr id="4" name="Content Placeholder 3">
            <a:extLst>
              <a:ext uri="{FF2B5EF4-FFF2-40B4-BE49-F238E27FC236}">
                <a16:creationId xmlns:a16="http://schemas.microsoft.com/office/drawing/2014/main" id="{0A500D7E-DD88-9850-7515-B4A53F2FAB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r>
              <a:rPr lang="en-US" b="1" dirty="0"/>
              <a:t>Horizontal Erosion</a:t>
            </a:r>
          </a:p>
          <a:p>
            <a:r>
              <a:rPr lang="en-US" b="1" dirty="0"/>
              <a:t>Purpose:</a:t>
            </a:r>
            <a:br>
              <a:rPr lang="en-US" dirty="0"/>
            </a:br>
            <a:r>
              <a:rPr lang="en-US" dirty="0"/>
              <a:t>Handle barcodes placed side-by-side by breaking continuous regions into distinct segments.</a:t>
            </a:r>
          </a:p>
          <a:p>
            <a:r>
              <a:rPr lang="en-US" b="1" dirty="0"/>
              <a:t>Key Points:</a:t>
            </a:r>
            <a:endParaRPr lang="en-US" dirty="0"/>
          </a:p>
          <a:p>
            <a:r>
              <a:rPr lang="en-US" dirty="0"/>
              <a:t>Applies morphological erosion along the horizontal axis.</a:t>
            </a:r>
          </a:p>
          <a:p>
            <a:r>
              <a:rPr lang="en-US" dirty="0"/>
              <a:t>Reduces connectivity between adjacent barcode stripes.</a:t>
            </a:r>
          </a:p>
          <a:p>
            <a:r>
              <a:rPr lang="en-US" dirty="0"/>
              <a:t>Prepares candidates for contour extraction and validation.</a:t>
            </a:r>
          </a:p>
          <a:p>
            <a:r>
              <a:rPr lang="en-US" b="1" dirty="0"/>
              <a:t>Outcome:</a:t>
            </a:r>
            <a:br>
              <a:rPr lang="en-US" dirty="0"/>
            </a:br>
            <a:r>
              <a:rPr lang="en-US" dirty="0"/>
              <a:t>Ensures each barcode is isolated for accurate bounding box generation.</a:t>
            </a:r>
          </a:p>
        </p:txBody>
      </p:sp>
      <p:sp>
        <p:nvSpPr>
          <p:cNvPr id="7" name="Picture Placeholder 6">
            <a:extLst>
              <a:ext uri="{FF2B5EF4-FFF2-40B4-BE49-F238E27FC236}">
                <a16:creationId xmlns:a16="http://schemas.microsoft.com/office/drawing/2014/main" id="{E86661DE-BB3D-A5AF-34E5-DFA3071A5452}"/>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7E005BD-2E89-3F14-1072-9D4031CFD714}"/>
              </a:ext>
            </a:extLst>
          </p:cNvPr>
          <p:cNvPicPr>
            <a:picLocks noChangeAspect="1"/>
          </p:cNvPicPr>
          <p:nvPr/>
        </p:nvPicPr>
        <p:blipFill>
          <a:blip r:embed="rId3"/>
          <a:stretch>
            <a:fillRect/>
          </a:stretch>
        </p:blipFill>
        <p:spPr>
          <a:xfrm>
            <a:off x="0" y="1198880"/>
            <a:ext cx="6389689" cy="4175760"/>
          </a:xfrm>
          <a:prstGeom prst="rect">
            <a:avLst/>
          </a:prstGeom>
        </p:spPr>
      </p:pic>
    </p:spTree>
    <p:extLst>
      <p:ext uri="{BB962C8B-B14F-4D97-AF65-F5344CB8AC3E}">
        <p14:creationId xmlns:p14="http://schemas.microsoft.com/office/powerpoint/2010/main" val="4173797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164F6-22AD-EE2F-4C76-B5AD43175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E8885-F0E2-FFE2-9F1B-2EE3F2AA3D1C}"/>
              </a:ext>
            </a:extLst>
          </p:cNvPr>
          <p:cNvSpPr>
            <a:spLocks noGrp="1"/>
          </p:cNvSpPr>
          <p:nvPr>
            <p:ph type="title"/>
          </p:nvPr>
        </p:nvSpPr>
        <p:spPr>
          <a:xfrm>
            <a:off x="7010400" y="685800"/>
            <a:ext cx="4561665" cy="1371264"/>
          </a:xfrm>
        </p:spPr>
        <p:txBody>
          <a:bodyPr anchor="b">
            <a:normAutofit fontScale="90000"/>
          </a:bodyPr>
          <a:lstStyle/>
          <a:p>
            <a:pPr>
              <a:spcBef>
                <a:spcPts val="2500"/>
              </a:spcBef>
            </a:pPr>
            <a:r>
              <a:rPr lang="en-US" sz="4000" b="1" dirty="0"/>
              <a:t>Barcode Splitting Techniques</a:t>
            </a:r>
          </a:p>
        </p:txBody>
      </p:sp>
      <p:sp>
        <p:nvSpPr>
          <p:cNvPr id="4" name="Content Placeholder 3">
            <a:extLst>
              <a:ext uri="{FF2B5EF4-FFF2-40B4-BE49-F238E27FC236}">
                <a16:creationId xmlns:a16="http://schemas.microsoft.com/office/drawing/2014/main" id="{0695AA1C-D186-4E17-178F-A9DB447513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r>
              <a:rPr lang="en-US" b="1" dirty="0"/>
              <a:t>Projection Analysis</a:t>
            </a:r>
          </a:p>
          <a:p>
            <a:r>
              <a:rPr lang="en-US" b="1" dirty="0"/>
              <a:t>Purpose:</a:t>
            </a:r>
            <a:br>
              <a:rPr lang="en-US" dirty="0"/>
            </a:br>
            <a:r>
              <a:rPr lang="en-US" dirty="0"/>
              <a:t>Separate stacked barcodes using intensity distribution patterns.</a:t>
            </a:r>
          </a:p>
          <a:p>
            <a:r>
              <a:rPr lang="en-US" b="1" dirty="0"/>
              <a:t>Key Points:</a:t>
            </a:r>
            <a:endParaRPr lang="en-US" dirty="0"/>
          </a:p>
          <a:p>
            <a:r>
              <a:rPr lang="en-US" dirty="0"/>
              <a:t>Computes horizontal and vertical projection profiles.</a:t>
            </a:r>
          </a:p>
          <a:p>
            <a:r>
              <a:rPr lang="en-US" dirty="0"/>
              <a:t>Detects valleys in intensity to identify segmentation points.</a:t>
            </a:r>
          </a:p>
          <a:p>
            <a:r>
              <a:rPr lang="en-US" dirty="0"/>
              <a:t>Works well for barcodes aligned vertically or horizontally.</a:t>
            </a:r>
          </a:p>
          <a:p>
            <a:r>
              <a:rPr lang="en-US" b="1" dirty="0"/>
              <a:t>Outcome:</a:t>
            </a:r>
            <a:br>
              <a:rPr lang="en-US" dirty="0"/>
            </a:br>
            <a:r>
              <a:rPr lang="en-US" dirty="0"/>
              <a:t>Provides clean segmentation for stacked barcode layouts without losing structural integrity.</a:t>
            </a:r>
          </a:p>
        </p:txBody>
      </p:sp>
      <p:sp>
        <p:nvSpPr>
          <p:cNvPr id="7" name="Picture Placeholder 6">
            <a:extLst>
              <a:ext uri="{FF2B5EF4-FFF2-40B4-BE49-F238E27FC236}">
                <a16:creationId xmlns:a16="http://schemas.microsoft.com/office/drawing/2014/main" id="{830524E7-0D47-71C6-6204-127F782985B9}"/>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6FA92BAA-6CFA-A7A4-9ECA-0F0800C3F8C0}"/>
              </a:ext>
            </a:extLst>
          </p:cNvPr>
          <p:cNvPicPr>
            <a:picLocks noChangeAspect="1"/>
          </p:cNvPicPr>
          <p:nvPr/>
        </p:nvPicPr>
        <p:blipFill>
          <a:blip r:embed="rId3"/>
          <a:stretch>
            <a:fillRect/>
          </a:stretch>
        </p:blipFill>
        <p:spPr>
          <a:xfrm>
            <a:off x="0" y="0"/>
            <a:ext cx="6524090" cy="6858000"/>
          </a:xfrm>
          <a:prstGeom prst="rect">
            <a:avLst/>
          </a:prstGeom>
        </p:spPr>
      </p:pic>
    </p:spTree>
    <p:extLst>
      <p:ext uri="{BB962C8B-B14F-4D97-AF65-F5344CB8AC3E}">
        <p14:creationId xmlns:p14="http://schemas.microsoft.com/office/powerpoint/2010/main" val="2232125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79A3-8239-4EE9-229F-E8B0649A1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166E3-1976-79E3-9843-15417403E2D9}"/>
              </a:ext>
            </a:extLst>
          </p:cNvPr>
          <p:cNvSpPr>
            <a:spLocks noGrp="1"/>
          </p:cNvSpPr>
          <p:nvPr>
            <p:ph type="title"/>
          </p:nvPr>
        </p:nvSpPr>
        <p:spPr>
          <a:xfrm>
            <a:off x="7010400" y="685800"/>
            <a:ext cx="4561665" cy="1371264"/>
          </a:xfrm>
        </p:spPr>
        <p:txBody>
          <a:bodyPr anchor="b">
            <a:normAutofit fontScale="90000"/>
          </a:bodyPr>
          <a:lstStyle/>
          <a:p>
            <a:pPr>
              <a:spcBef>
                <a:spcPts val="2500"/>
              </a:spcBef>
            </a:pPr>
            <a:r>
              <a:rPr lang="en-US" sz="4000" b="1" dirty="0"/>
              <a:t>Barcode Splitting Techniques</a:t>
            </a:r>
          </a:p>
        </p:txBody>
      </p:sp>
      <p:sp>
        <p:nvSpPr>
          <p:cNvPr id="4" name="Content Placeholder 3">
            <a:extLst>
              <a:ext uri="{FF2B5EF4-FFF2-40B4-BE49-F238E27FC236}">
                <a16:creationId xmlns:a16="http://schemas.microsoft.com/office/drawing/2014/main" id="{AEF7CB63-6F76-9F03-9595-DF43F0E54D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r>
              <a:rPr lang="en-US" b="1" dirty="0"/>
              <a:t>Purpose:</a:t>
            </a:r>
            <a:br>
              <a:rPr lang="en-US" dirty="0"/>
            </a:br>
            <a:r>
              <a:rPr lang="en-US" dirty="0"/>
              <a:t>Separate stacked or vertically merged barcodes by reducing vertical connectivity.</a:t>
            </a:r>
          </a:p>
          <a:p>
            <a:r>
              <a:rPr lang="en-US" b="1" dirty="0"/>
              <a:t>Key Points:</a:t>
            </a:r>
            <a:endParaRPr lang="en-US" dirty="0"/>
          </a:p>
          <a:p>
            <a:r>
              <a:rPr lang="en-US" dirty="0"/>
              <a:t>Applies </a:t>
            </a:r>
            <a:r>
              <a:rPr lang="en-US" b="1" dirty="0"/>
              <a:t>vertical morphological erosion</a:t>
            </a:r>
            <a:r>
              <a:rPr lang="en-US" dirty="0"/>
              <a:t> using a tall kernel (e.g., 3×7).</a:t>
            </a:r>
          </a:p>
          <a:p>
            <a:r>
              <a:rPr lang="en-US" dirty="0"/>
              <a:t>Breaks continuous vertical structures to isolate individual barcode regions.</a:t>
            </a:r>
          </a:p>
          <a:p>
            <a:r>
              <a:rPr lang="en-US" dirty="0"/>
              <a:t>Extracts and validates contours after erosion for accurate segmentation.</a:t>
            </a:r>
          </a:p>
          <a:p>
            <a:r>
              <a:rPr lang="en-US" b="1" dirty="0"/>
              <a:t>Outcome:</a:t>
            </a:r>
            <a:br>
              <a:rPr lang="en-US" dirty="0"/>
            </a:br>
            <a:r>
              <a:rPr lang="en-US" dirty="0"/>
              <a:t>Improves detection of vertically aligned barcodes, enabling precise splitting and decoding.</a:t>
            </a:r>
          </a:p>
          <a:p>
            <a:endParaRPr lang="en-US" dirty="0"/>
          </a:p>
        </p:txBody>
      </p:sp>
      <p:sp>
        <p:nvSpPr>
          <p:cNvPr id="7" name="Picture Placeholder 6">
            <a:extLst>
              <a:ext uri="{FF2B5EF4-FFF2-40B4-BE49-F238E27FC236}">
                <a16:creationId xmlns:a16="http://schemas.microsoft.com/office/drawing/2014/main" id="{5D1A75B5-695A-45EA-85A3-50110A92E6E2}"/>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AD8E2F3-2478-BAA2-8B50-2C91CCE8B9A4}"/>
              </a:ext>
            </a:extLst>
          </p:cNvPr>
          <p:cNvPicPr>
            <a:picLocks noChangeAspect="1"/>
          </p:cNvPicPr>
          <p:nvPr/>
        </p:nvPicPr>
        <p:blipFill>
          <a:blip r:embed="rId3"/>
          <a:stretch>
            <a:fillRect/>
          </a:stretch>
        </p:blipFill>
        <p:spPr>
          <a:xfrm>
            <a:off x="1610" y="1849120"/>
            <a:ext cx="6388078" cy="3312160"/>
          </a:xfrm>
          <a:prstGeom prst="rect">
            <a:avLst/>
          </a:prstGeom>
        </p:spPr>
      </p:pic>
    </p:spTree>
    <p:extLst>
      <p:ext uri="{BB962C8B-B14F-4D97-AF65-F5344CB8AC3E}">
        <p14:creationId xmlns:p14="http://schemas.microsoft.com/office/powerpoint/2010/main" val="3096922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AC2B8-B6D0-2E8C-605E-BA0809A3A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B4743-2A67-552F-E955-560F14D8C595}"/>
              </a:ext>
            </a:extLst>
          </p:cNvPr>
          <p:cNvSpPr>
            <a:spLocks noGrp="1"/>
          </p:cNvSpPr>
          <p:nvPr>
            <p:ph type="title"/>
          </p:nvPr>
        </p:nvSpPr>
        <p:spPr>
          <a:xfrm>
            <a:off x="7010400" y="685800"/>
            <a:ext cx="4561665" cy="1371264"/>
          </a:xfrm>
        </p:spPr>
        <p:txBody>
          <a:bodyPr anchor="b">
            <a:normAutofit fontScale="90000"/>
          </a:bodyPr>
          <a:lstStyle/>
          <a:p>
            <a:pPr>
              <a:spcBef>
                <a:spcPts val="2500"/>
              </a:spcBef>
            </a:pPr>
            <a:r>
              <a:rPr lang="en-US" sz="4000" b="1" dirty="0"/>
              <a:t>Barcode Splitting Techniques</a:t>
            </a:r>
          </a:p>
        </p:txBody>
      </p:sp>
      <p:sp>
        <p:nvSpPr>
          <p:cNvPr id="4" name="Content Placeholder 3">
            <a:extLst>
              <a:ext uri="{FF2B5EF4-FFF2-40B4-BE49-F238E27FC236}">
                <a16:creationId xmlns:a16="http://schemas.microsoft.com/office/drawing/2014/main" id="{6F7E414A-FD2C-C1D0-20AF-FC11C6CAB4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r>
              <a:rPr lang="en-US" b="1" dirty="0"/>
              <a:t>Purpose:</a:t>
            </a:r>
            <a:br>
              <a:rPr lang="en-US" dirty="0"/>
            </a:br>
            <a:r>
              <a:rPr lang="en-US" dirty="0"/>
              <a:t>Handle horizontally merged barcodes using adaptive erosion techniques.</a:t>
            </a:r>
          </a:p>
          <a:p>
            <a:r>
              <a:rPr lang="en-US" b="1" dirty="0"/>
              <a:t>Key Points:</a:t>
            </a:r>
            <a:endParaRPr lang="en-US" dirty="0"/>
          </a:p>
          <a:p>
            <a:r>
              <a:rPr lang="en-US" dirty="0"/>
              <a:t>Performs </a:t>
            </a:r>
            <a:r>
              <a:rPr lang="en-US" b="1" dirty="0"/>
              <a:t>horizontal erosion</a:t>
            </a:r>
            <a:r>
              <a:rPr lang="en-US" dirty="0"/>
              <a:t> with multiple kernel sizes for fine-grained separation.</a:t>
            </a:r>
          </a:p>
          <a:p>
            <a:r>
              <a:rPr lang="en-US" dirty="0"/>
              <a:t>Iteratively tests kernel sizes and stops when optimal segmentation is achieved.</a:t>
            </a:r>
          </a:p>
          <a:p>
            <a:r>
              <a:rPr lang="en-US" dirty="0"/>
              <a:t>Validates contours after each iteration to ensure structural integrity.</a:t>
            </a:r>
          </a:p>
          <a:p>
            <a:r>
              <a:rPr lang="en-US" b="1" dirty="0"/>
              <a:t>Outcome:</a:t>
            </a:r>
            <a:br>
              <a:rPr lang="en-US" dirty="0"/>
            </a:br>
            <a:r>
              <a:rPr lang="en-US" dirty="0"/>
              <a:t>Ensures accurate isolation of side-by-side barcodes, reducing false positives and improving detection accuracy.</a:t>
            </a:r>
          </a:p>
          <a:p>
            <a:endParaRPr lang="en-US" dirty="0"/>
          </a:p>
        </p:txBody>
      </p:sp>
      <p:sp>
        <p:nvSpPr>
          <p:cNvPr id="7" name="Picture Placeholder 6">
            <a:extLst>
              <a:ext uri="{FF2B5EF4-FFF2-40B4-BE49-F238E27FC236}">
                <a16:creationId xmlns:a16="http://schemas.microsoft.com/office/drawing/2014/main" id="{FF7351CE-97BC-6383-1F67-1A7445987C88}"/>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A6844D7-A9ED-534E-1D62-48282EC8B411}"/>
              </a:ext>
            </a:extLst>
          </p:cNvPr>
          <p:cNvPicPr>
            <a:picLocks noChangeAspect="1"/>
          </p:cNvPicPr>
          <p:nvPr/>
        </p:nvPicPr>
        <p:blipFill>
          <a:blip r:embed="rId3"/>
          <a:stretch>
            <a:fillRect/>
          </a:stretch>
        </p:blipFill>
        <p:spPr>
          <a:xfrm>
            <a:off x="0" y="1859280"/>
            <a:ext cx="6389688" cy="4009907"/>
          </a:xfrm>
          <a:prstGeom prst="rect">
            <a:avLst/>
          </a:prstGeom>
        </p:spPr>
      </p:pic>
    </p:spTree>
    <p:extLst>
      <p:ext uri="{BB962C8B-B14F-4D97-AF65-F5344CB8AC3E}">
        <p14:creationId xmlns:p14="http://schemas.microsoft.com/office/powerpoint/2010/main" val="519182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7A9C1-EE94-8AF2-2CD5-0D1601194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7F7F5-ECA2-53C1-69F9-E8C2743B3A74}"/>
              </a:ext>
            </a:extLst>
          </p:cNvPr>
          <p:cNvSpPr>
            <a:spLocks noGrp="1"/>
          </p:cNvSpPr>
          <p:nvPr>
            <p:ph type="title"/>
          </p:nvPr>
        </p:nvSpPr>
        <p:spPr>
          <a:xfrm>
            <a:off x="7010400" y="685800"/>
            <a:ext cx="4561665" cy="1371264"/>
          </a:xfrm>
        </p:spPr>
        <p:txBody>
          <a:bodyPr anchor="b">
            <a:normAutofit fontScale="90000"/>
          </a:bodyPr>
          <a:lstStyle/>
          <a:p>
            <a:pPr>
              <a:spcBef>
                <a:spcPts val="2500"/>
              </a:spcBef>
            </a:pPr>
            <a:r>
              <a:rPr lang="en-US" sz="4000" b="1" dirty="0"/>
              <a:t>Barcode Splitting Techniques</a:t>
            </a:r>
          </a:p>
        </p:txBody>
      </p:sp>
      <p:sp>
        <p:nvSpPr>
          <p:cNvPr id="4" name="Content Placeholder 3">
            <a:extLst>
              <a:ext uri="{FF2B5EF4-FFF2-40B4-BE49-F238E27FC236}">
                <a16:creationId xmlns:a16="http://schemas.microsoft.com/office/drawing/2014/main" id="{DD18CFD0-F3D4-CB74-C041-19C20EC0F4E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r>
              <a:rPr lang="en-US" b="1" dirty="0"/>
              <a:t>Watershed Segmentation</a:t>
            </a:r>
          </a:p>
          <a:p>
            <a:r>
              <a:rPr lang="en-US" b="1" dirty="0"/>
              <a:t>Purpose:</a:t>
            </a:r>
            <a:br>
              <a:rPr lang="en-US" dirty="0"/>
            </a:br>
            <a:r>
              <a:rPr lang="en-US" dirty="0"/>
              <a:t>Split overlapping barcode regions where erosion and projection fail.</a:t>
            </a:r>
          </a:p>
          <a:p>
            <a:r>
              <a:rPr lang="en-US" b="1" dirty="0"/>
              <a:t>Key Points:</a:t>
            </a:r>
            <a:endParaRPr lang="en-US" dirty="0"/>
          </a:p>
          <a:p>
            <a:r>
              <a:rPr lang="en-US" dirty="0"/>
              <a:t>Uses distance transform to identify object centers.</a:t>
            </a:r>
          </a:p>
          <a:p>
            <a:r>
              <a:rPr lang="en-US" dirty="0"/>
              <a:t>Applies watershed algorithm to divide touching regions.</a:t>
            </a:r>
          </a:p>
          <a:p>
            <a:r>
              <a:rPr lang="en-US" dirty="0"/>
              <a:t>Handles complex overlaps and irregular barcode arrangements.</a:t>
            </a:r>
          </a:p>
          <a:p>
            <a:r>
              <a:rPr lang="en-US" b="1" dirty="0"/>
              <a:t>Outcome:</a:t>
            </a:r>
            <a:br>
              <a:rPr lang="en-US" dirty="0"/>
            </a:br>
            <a:r>
              <a:rPr lang="en-US" dirty="0"/>
              <a:t>Delivers precise segmentation for challenging barcode clusters, enabling reliable decoding.</a:t>
            </a:r>
          </a:p>
          <a:p>
            <a:endParaRPr lang="en-US" dirty="0"/>
          </a:p>
        </p:txBody>
      </p:sp>
      <p:sp>
        <p:nvSpPr>
          <p:cNvPr id="7" name="Picture Placeholder 6">
            <a:extLst>
              <a:ext uri="{FF2B5EF4-FFF2-40B4-BE49-F238E27FC236}">
                <a16:creationId xmlns:a16="http://schemas.microsoft.com/office/drawing/2014/main" id="{EDAA638A-FF6A-8D94-9436-DBF9BAB6D412}"/>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F1E1FC4-DCED-172B-BB22-3B73D73604EB}"/>
              </a:ext>
            </a:extLst>
          </p:cNvPr>
          <p:cNvPicPr>
            <a:picLocks noChangeAspect="1"/>
          </p:cNvPicPr>
          <p:nvPr/>
        </p:nvPicPr>
        <p:blipFill>
          <a:blip r:embed="rId3"/>
          <a:stretch>
            <a:fillRect/>
          </a:stretch>
        </p:blipFill>
        <p:spPr>
          <a:xfrm>
            <a:off x="0" y="599441"/>
            <a:ext cx="6373114" cy="5572760"/>
          </a:xfrm>
          <a:prstGeom prst="rect">
            <a:avLst/>
          </a:prstGeom>
        </p:spPr>
      </p:pic>
    </p:spTree>
    <p:extLst>
      <p:ext uri="{BB962C8B-B14F-4D97-AF65-F5344CB8AC3E}">
        <p14:creationId xmlns:p14="http://schemas.microsoft.com/office/powerpoint/2010/main" val="1572778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F595B-7A10-97AC-F3FB-75E66822E8E7}"/>
              </a:ext>
            </a:extLst>
          </p:cNvPr>
          <p:cNvSpPr>
            <a:spLocks noGrp="1"/>
          </p:cNvSpPr>
          <p:nvPr>
            <p:ph type="title"/>
          </p:nvPr>
        </p:nvSpPr>
        <p:spPr>
          <a:xfrm>
            <a:off x="7010400" y="685800"/>
            <a:ext cx="4561665" cy="1371264"/>
          </a:xfrm>
        </p:spPr>
        <p:txBody>
          <a:bodyPr anchor="b">
            <a:normAutofit/>
          </a:bodyPr>
          <a:lstStyle/>
          <a:p>
            <a:r>
              <a:rPr lang="en-US" sz="3400"/>
              <a:t>Step 6: Final Detection &amp; Visualization</a:t>
            </a:r>
          </a:p>
        </p:txBody>
      </p:sp>
      <p:sp>
        <p:nvSpPr>
          <p:cNvPr id="4" name="Content Placeholder 3">
            <a:extLst>
              <a:ext uri="{FF2B5EF4-FFF2-40B4-BE49-F238E27FC236}">
                <a16:creationId xmlns:a16="http://schemas.microsoft.com/office/drawing/2014/main" id="{343BAF07-8D38-3909-6F22-9D073CD4A56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Non-Maximum Suppression Role</a:t>
            </a:r>
          </a:p>
          <a:p>
            <a:pPr marL="0" lvl="1" indent="0">
              <a:buFont typeface="Arial" panose="020B0604020202020204" pitchFamily="34" charset="0"/>
              <a:buNone/>
            </a:pPr>
            <a:r>
              <a:rPr lang="en-US"/>
              <a:t>Non-Maximum Suppression eliminates overlapping barcode detections to ensure accurate counting of each barcode once.</a:t>
            </a:r>
          </a:p>
          <a:p>
            <a:pPr marL="0" indent="0">
              <a:spcBef>
                <a:spcPts val="2500"/>
              </a:spcBef>
              <a:buFont typeface="Arial" panose="020B0604020202020204" pitchFamily="34" charset="0"/>
              <a:buNone/>
            </a:pPr>
            <a:r>
              <a:rPr lang="en-US" b="1"/>
              <a:t>Drawing Final Bounding Boxes</a:t>
            </a:r>
          </a:p>
          <a:p>
            <a:pPr marL="0" lvl="1" indent="0">
              <a:buFont typeface="Arial" panose="020B0604020202020204" pitchFamily="34" charset="0"/>
              <a:buNone/>
            </a:pPr>
            <a:r>
              <a:rPr lang="en-US"/>
              <a:t>Bounding boxes are drawn on the original image around detected barcodes for easy visual verification of results.</a:t>
            </a:r>
          </a:p>
          <a:p>
            <a:pPr marL="0" indent="0">
              <a:spcBef>
                <a:spcPts val="2500"/>
              </a:spcBef>
              <a:buFont typeface="Arial" panose="020B0604020202020204" pitchFamily="34" charset="0"/>
              <a:buNone/>
            </a:pPr>
            <a:r>
              <a:rPr lang="en-US" b="1"/>
              <a:t>Displaying Detection Count</a:t>
            </a:r>
          </a:p>
          <a:p>
            <a:pPr marL="0" lvl="1" indent="0">
              <a:buFont typeface="Arial" panose="020B0604020202020204" pitchFamily="34" charset="0"/>
              <a:buNone/>
            </a:pPr>
            <a:r>
              <a:rPr lang="en-US"/>
              <a:t>The total count of detected barcodes is displayed clearly to provide summary information after detection process.</a:t>
            </a:r>
          </a:p>
        </p:txBody>
      </p:sp>
      <p:sp>
        <p:nvSpPr>
          <p:cNvPr id="7" name="Picture Placeholder 6">
            <a:extLst>
              <a:ext uri="{FF2B5EF4-FFF2-40B4-BE49-F238E27FC236}">
                <a16:creationId xmlns:a16="http://schemas.microsoft.com/office/drawing/2014/main" id="{EEB9222D-7CE4-6B48-94B5-E2E75ED38455}"/>
              </a:ext>
            </a:extLst>
          </p:cNvPr>
          <p:cNvSpPr>
            <a:spLocks noGrp="1"/>
          </p:cNvSpPr>
          <p:nvPr>
            <p:ph type="pic" sz="quarter" idx="15"/>
          </p:nvPr>
        </p:nvSpPr>
        <p:spPr>
          <a:xfrm>
            <a:off x="0" y="0"/>
            <a:ext cx="6389688" cy="6858000"/>
          </a:xfrm>
          <a:prstGeom prst="rect">
            <a:avLst/>
          </a:prstGeom>
          <a:solidFill>
            <a:srgbClr val="282A2C"/>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76BCD895-2B2C-FF43-FE86-22CBCB58DDCE}"/>
              </a:ext>
            </a:extLst>
          </p:cNvPr>
          <p:cNvPicPr>
            <a:picLocks noChangeAspect="1"/>
          </p:cNvPicPr>
          <p:nvPr/>
        </p:nvPicPr>
        <p:blipFill>
          <a:blip r:embed="rId3"/>
          <a:stretch>
            <a:fillRect/>
          </a:stretch>
        </p:blipFill>
        <p:spPr>
          <a:xfrm>
            <a:off x="0" y="0"/>
            <a:ext cx="6573167" cy="6858000"/>
          </a:xfrm>
          <a:prstGeom prst="rect">
            <a:avLst/>
          </a:prstGeom>
        </p:spPr>
      </p:pic>
    </p:spTree>
    <p:extLst>
      <p:ext uri="{BB962C8B-B14F-4D97-AF65-F5344CB8AC3E}">
        <p14:creationId xmlns:p14="http://schemas.microsoft.com/office/powerpoint/2010/main" val="571486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7454-6E51-AD05-CA42-897EBF1F6CB3}"/>
              </a:ext>
            </a:extLst>
          </p:cNvPr>
          <p:cNvSpPr>
            <a:spLocks noGrp="1"/>
          </p:cNvSpPr>
          <p:nvPr>
            <p:ph type="ctrTitle"/>
          </p:nvPr>
        </p:nvSpPr>
        <p:spPr>
          <a:xfrm>
            <a:off x="609600" y="990600"/>
            <a:ext cx="10058400" cy="5029200"/>
          </a:xfrm>
        </p:spPr>
        <p:txBody>
          <a:bodyPr anchor="b">
            <a:normAutofit/>
          </a:bodyPr>
          <a:lstStyle/>
          <a:p>
            <a:r>
              <a:rPr lang="en-US"/>
              <a:t>Challenges</a:t>
            </a:r>
          </a:p>
        </p:txBody>
      </p:sp>
    </p:spTree>
    <p:extLst>
      <p:ext uri="{BB962C8B-B14F-4D97-AF65-F5344CB8AC3E}">
        <p14:creationId xmlns:p14="http://schemas.microsoft.com/office/powerpoint/2010/main" val="1900130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EB0A9-C735-8D63-490C-F2FFECDFC9B2}"/>
              </a:ext>
            </a:extLst>
          </p:cNvPr>
          <p:cNvSpPr>
            <a:spLocks noGrp="1"/>
          </p:cNvSpPr>
          <p:nvPr>
            <p:ph type="title"/>
          </p:nvPr>
        </p:nvSpPr>
        <p:spPr>
          <a:xfrm>
            <a:off x="612647" y="685800"/>
            <a:ext cx="6858000" cy="1111532"/>
          </a:xfrm>
        </p:spPr>
        <p:txBody>
          <a:bodyPr anchor="b">
            <a:normAutofit/>
          </a:bodyPr>
          <a:lstStyle/>
          <a:p>
            <a:r>
              <a:rPr lang="en-US" sz="3800"/>
              <a:t>Key Development Challenges</a:t>
            </a:r>
          </a:p>
        </p:txBody>
      </p:sp>
      <p:sp>
        <p:nvSpPr>
          <p:cNvPr id="4" name="Content Placeholder 3">
            <a:extLst>
              <a:ext uri="{FF2B5EF4-FFF2-40B4-BE49-F238E27FC236}">
                <a16:creationId xmlns:a16="http://schemas.microsoft.com/office/drawing/2014/main" id="{47E0C2D3-855C-2B48-DA05-529DDDB9E54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Noise and Background Clutter</a:t>
            </a:r>
          </a:p>
          <a:p>
            <a:pPr marL="0" lvl="1" indent="0">
              <a:buFont typeface="Arial" panose="020B0604020202020204" pitchFamily="34" charset="0"/>
              <a:buNone/>
            </a:pPr>
            <a:r>
              <a:t>System performance was affected by noise and clutter, complicating accurate barcode detection in images.</a:t>
            </a:r>
            <a:endParaRPr lang="en-US"/>
          </a:p>
          <a:p>
            <a:pPr marL="0" indent="0">
              <a:spcBef>
                <a:spcPts val="2500"/>
              </a:spcBef>
              <a:buFont typeface="Arial" panose="020B0604020202020204" pitchFamily="34" charset="0"/>
              <a:buNone/>
            </a:pPr>
            <a:r>
              <a:rPr lang="en-US" b="1"/>
              <a:t>Merged or Stacked Barcodes</a:t>
            </a:r>
          </a:p>
          <a:p>
            <a:pPr marL="0" lvl="1" indent="0">
              <a:buFont typeface="Arial" panose="020B0604020202020204" pitchFamily="34" charset="0"/>
              <a:buNone/>
            </a:pPr>
            <a:r>
              <a:t>Merged and stacked barcodes created challenges for correct separation and decoding in scanning processes.</a:t>
            </a:r>
            <a:endParaRPr lang="en-US"/>
          </a:p>
          <a:p>
            <a:pPr marL="0" indent="0">
              <a:spcBef>
                <a:spcPts val="2500"/>
              </a:spcBef>
              <a:buFont typeface="Arial" panose="020B0604020202020204" pitchFamily="34" charset="0"/>
              <a:buNone/>
            </a:pPr>
            <a:r>
              <a:rPr lang="en-US" b="1"/>
              <a:t>False Positives from Non-Barcode Contours</a:t>
            </a:r>
          </a:p>
          <a:p>
            <a:pPr marL="0" lvl="1" indent="0">
              <a:buFont typeface="Arial" panose="020B0604020202020204" pitchFamily="34" charset="0"/>
              <a:buNone/>
            </a:pPr>
            <a:r>
              <a:t>Non-barcode shapes caused false positives, requiring refined detection algorithms to reduce errors.</a:t>
            </a:r>
            <a:endParaRPr lang="en-US"/>
          </a:p>
          <a:p>
            <a:pPr marL="0" indent="0">
              <a:spcBef>
                <a:spcPts val="2500"/>
              </a:spcBef>
              <a:buFont typeface="Arial" panose="020B0604020202020204" pitchFamily="34" charset="0"/>
              <a:buNone/>
            </a:pPr>
            <a:r>
              <a:rPr lang="en-US" b="1"/>
              <a:t>Orientation Independence and Parameter Tuning</a:t>
            </a:r>
          </a:p>
          <a:p>
            <a:pPr marL="0" lvl="1" indent="0">
              <a:buFont typeface="Arial" panose="020B0604020202020204" pitchFamily="34" charset="0"/>
              <a:buNone/>
            </a:pPr>
            <a:r>
              <a:t>Ensuring detection was orientation independent and tuning parameters balanced precision and recall.</a:t>
            </a:r>
            <a:endParaRPr lang="en-US"/>
          </a:p>
        </p:txBody>
      </p:sp>
      <p:pic>
        <p:nvPicPr>
          <p:cNvPr id="5" name="Content Placeholder 4" descr="Bar code closeup with laser beam on it.My other similar images">
            <a:extLst>
              <a:ext uri="{FF2B5EF4-FFF2-40B4-BE49-F238E27FC236}">
                <a16:creationId xmlns:a16="http://schemas.microsoft.com/office/drawing/2014/main" id="{E281BD12-90A1-4CA7-9D19-6608EFE5B30B}"/>
              </a:ext>
            </a:extLst>
          </p:cNvPr>
          <p:cNvPicPr>
            <a:picLocks noGrp="1" noChangeAspect="1"/>
          </p:cNvPicPr>
          <p:nvPr>
            <p:ph type="pic" sz="quarter" idx="13"/>
          </p:nvPr>
        </p:nvPicPr>
        <p:blipFill>
          <a:blip r:embed="rId3"/>
          <a:srcRect l="22494" r="37597"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4887787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B1BC-ED32-1733-BF63-60E5F6CCF5A4}"/>
              </a:ext>
            </a:extLst>
          </p:cNvPr>
          <p:cNvSpPr>
            <a:spLocks noGrp="1"/>
          </p:cNvSpPr>
          <p:nvPr>
            <p:ph type="ctrTitle"/>
          </p:nvPr>
        </p:nvSpPr>
        <p:spPr>
          <a:xfrm>
            <a:off x="609600" y="990600"/>
            <a:ext cx="10058400" cy="5029200"/>
          </a:xfrm>
        </p:spPr>
        <p:txBody>
          <a:bodyPr anchor="b">
            <a:normAutofit/>
          </a:bodyPr>
          <a:lstStyle/>
          <a:p>
            <a:r>
              <a:rPr lang="en-US"/>
              <a:t>Future Work</a:t>
            </a:r>
          </a:p>
        </p:txBody>
      </p:sp>
    </p:spTree>
    <p:extLst>
      <p:ext uri="{BB962C8B-B14F-4D97-AF65-F5344CB8AC3E}">
        <p14:creationId xmlns:p14="http://schemas.microsoft.com/office/powerpoint/2010/main" val="2235571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09984-67AC-B3B0-32DA-EAD82FE4C107}"/>
              </a:ext>
            </a:extLst>
          </p:cNvPr>
          <p:cNvSpPr>
            <a:spLocks noGrp="1"/>
          </p:cNvSpPr>
          <p:nvPr>
            <p:ph type="title"/>
          </p:nvPr>
        </p:nvSpPr>
        <p:spPr>
          <a:xfrm>
            <a:off x="612647" y="685800"/>
            <a:ext cx="6858000" cy="1111532"/>
          </a:xfrm>
        </p:spPr>
        <p:txBody>
          <a:bodyPr anchor="b">
            <a:normAutofit/>
          </a:bodyPr>
          <a:lstStyle/>
          <a:p>
            <a:r>
              <a:rPr lang="en-US" sz="3800"/>
              <a:t>Barcode Decoding Strategies</a:t>
            </a:r>
          </a:p>
        </p:txBody>
      </p:sp>
      <p:sp>
        <p:nvSpPr>
          <p:cNvPr id="4" name="Content Placeholder 3">
            <a:extLst>
              <a:ext uri="{FF2B5EF4-FFF2-40B4-BE49-F238E27FC236}">
                <a16:creationId xmlns:a16="http://schemas.microsoft.com/office/drawing/2014/main" id="{34F7C790-42B1-631C-1E76-41291A5605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Library Integration</a:t>
            </a:r>
          </a:p>
          <a:p>
            <a:pPr marL="0" lvl="1" indent="0">
              <a:buFont typeface="Arial" panose="020B0604020202020204" pitchFamily="34" charset="0"/>
              <a:buNone/>
            </a:pPr>
            <a:r>
              <a:t>Integrating popular decoding libraries like ZBar or Pyzbar enhances barcode reading capabilities and accuracy.</a:t>
            </a:r>
            <a:endParaRPr lang="en-US"/>
          </a:p>
          <a:p>
            <a:pPr marL="0" indent="0">
              <a:spcBef>
                <a:spcPts val="2500"/>
              </a:spcBef>
              <a:buFont typeface="Arial" panose="020B0604020202020204" pitchFamily="34" charset="0"/>
              <a:buNone/>
            </a:pPr>
            <a:r>
              <a:rPr lang="en-US" b="1"/>
              <a:t>Orientation Correction</a:t>
            </a:r>
          </a:p>
          <a:p>
            <a:pPr marL="0" lvl="1" indent="0">
              <a:buFont typeface="Arial" panose="020B0604020202020204" pitchFamily="34" charset="0"/>
              <a:buNone/>
            </a:pPr>
            <a:r>
              <a:t>Correcting barcode orientation before decoding improves scanning success rates and processing speed.</a:t>
            </a:r>
            <a:endParaRPr lang="en-US"/>
          </a:p>
          <a:p>
            <a:pPr marL="0" indent="0">
              <a:spcBef>
                <a:spcPts val="2500"/>
              </a:spcBef>
              <a:buFont typeface="Arial" panose="020B0604020202020204" pitchFamily="34" charset="0"/>
              <a:buNone/>
            </a:pPr>
            <a:r>
              <a:rPr lang="en-US" b="1"/>
              <a:t>Checksum Validation</a:t>
            </a:r>
          </a:p>
          <a:p>
            <a:pPr marL="0" lvl="1" indent="0">
              <a:buFont typeface="Arial" panose="020B0604020202020204" pitchFamily="34" charset="0"/>
              <a:buNone/>
            </a:pPr>
            <a:r>
              <a:t>Implementing checksum validation ensures the accuracy and reliability of decoded barcode data.</a:t>
            </a:r>
            <a:endParaRPr lang="en-US"/>
          </a:p>
          <a:p>
            <a:pPr marL="0" indent="0">
              <a:spcBef>
                <a:spcPts val="2500"/>
              </a:spcBef>
              <a:buFont typeface="Arial" panose="020B0604020202020204" pitchFamily="34" charset="0"/>
              <a:buNone/>
            </a:pPr>
            <a:r>
              <a:rPr lang="en-US" b="1"/>
              <a:t>Real-Time Detection</a:t>
            </a:r>
          </a:p>
          <a:p>
            <a:pPr marL="0" lvl="1" indent="0">
              <a:buFont typeface="Arial" panose="020B0604020202020204" pitchFamily="34" charset="0"/>
              <a:buNone/>
            </a:pPr>
            <a:r>
              <a:t>Real-time detection in video streams enables dynamic barcode scanning for large-scale and fast processing needs.</a:t>
            </a:r>
            <a:endParaRPr lang="en-US"/>
          </a:p>
        </p:txBody>
      </p:sp>
      <p:pic>
        <p:nvPicPr>
          <p:cNvPr id="5" name="Content Placeholder 4" descr="Human hand is holding smartphone with barcode page for payment scan.">
            <a:extLst>
              <a:ext uri="{FF2B5EF4-FFF2-40B4-BE49-F238E27FC236}">
                <a16:creationId xmlns:a16="http://schemas.microsoft.com/office/drawing/2014/main" id="{D98B45ED-55FE-46C9-BABC-DD4EF14D7333}"/>
              </a:ext>
            </a:extLst>
          </p:cNvPr>
          <p:cNvPicPr>
            <a:picLocks noGrp="1" noChangeAspect="1"/>
          </p:cNvPicPr>
          <p:nvPr>
            <p:ph type="pic" sz="quarter" idx="13"/>
          </p:nvPr>
        </p:nvPicPr>
        <p:blipFill>
          <a:blip r:embed="rId3"/>
          <a:srcRect l="30479" r="29612"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9625160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8FB08-EB41-3098-2F69-60AB0B613E67}"/>
              </a:ext>
            </a:extLst>
          </p:cNvPr>
          <p:cNvSpPr>
            <a:spLocks noGrp="1"/>
          </p:cNvSpPr>
          <p:nvPr>
            <p:ph type="ctrTitle"/>
          </p:nvPr>
        </p:nvSpPr>
        <p:spPr>
          <a:xfrm>
            <a:off x="609600" y="990600"/>
            <a:ext cx="10058400" cy="5029200"/>
          </a:xfrm>
        </p:spPr>
        <p:txBody>
          <a:bodyPr anchor="b">
            <a:normAutofit/>
          </a:bodyPr>
          <a:lstStyle/>
          <a:p>
            <a:r>
              <a:rPr lang="en-US"/>
              <a:t>Algorithms &amp; Rationale</a:t>
            </a:r>
          </a:p>
        </p:txBody>
      </p:sp>
    </p:spTree>
    <p:extLst>
      <p:ext uri="{BB962C8B-B14F-4D97-AF65-F5344CB8AC3E}">
        <p14:creationId xmlns:p14="http://schemas.microsoft.com/office/powerpoint/2010/main" val="23553125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50D3F-7FFD-04CE-FCFF-C3BA9B4BAF64}"/>
              </a:ext>
            </a:extLst>
          </p:cNvPr>
          <p:cNvSpPr>
            <a:spLocks noGrp="1"/>
          </p:cNvSpPr>
          <p:nvPr>
            <p:ph type="title"/>
          </p:nvPr>
        </p:nvSpPr>
        <p:spPr>
          <a:xfrm>
            <a:off x="612647" y="685800"/>
            <a:ext cx="6858000" cy="1111532"/>
          </a:xfrm>
        </p:spPr>
        <p:txBody>
          <a:bodyPr anchor="b">
            <a:normAutofit/>
          </a:bodyPr>
          <a:lstStyle/>
          <a:p>
            <a:r>
              <a:rPr lang="en-US" sz="4600"/>
              <a:t>Choice of Techniques</a:t>
            </a:r>
          </a:p>
        </p:txBody>
      </p:sp>
      <p:sp>
        <p:nvSpPr>
          <p:cNvPr id="4" name="Content Placeholder 3">
            <a:extLst>
              <a:ext uri="{FF2B5EF4-FFF2-40B4-BE49-F238E27FC236}">
                <a16:creationId xmlns:a16="http://schemas.microsoft.com/office/drawing/2014/main" id="{FE78D48F-9B5B-5679-DFCE-36F86A95C6F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Sobel Operators for Edges</a:t>
            </a:r>
          </a:p>
          <a:p>
            <a:pPr marL="0" lvl="1" indent="0">
              <a:buFont typeface="Arial" panose="020B0604020202020204" pitchFamily="34" charset="0"/>
              <a:buNone/>
            </a:pPr>
            <a:r>
              <a:t>Sobel operators efficiently detect gradients, enabling accurate edge extraction in the image processing pipeline.</a:t>
            </a:r>
            <a:endParaRPr lang="en-US"/>
          </a:p>
          <a:p>
            <a:pPr marL="0" indent="0">
              <a:spcBef>
                <a:spcPts val="2500"/>
              </a:spcBef>
              <a:buFont typeface="Arial" panose="020B0604020202020204" pitchFamily="34" charset="0"/>
              <a:buNone/>
            </a:pPr>
            <a:r>
              <a:rPr lang="en-US" b="1"/>
              <a:t>Otsu's Adaptive Thresholding</a:t>
            </a:r>
          </a:p>
          <a:p>
            <a:pPr marL="0" lvl="1" indent="0">
              <a:buFont typeface="Arial" panose="020B0604020202020204" pitchFamily="34" charset="0"/>
              <a:buNone/>
            </a:pPr>
            <a:r>
              <a:t>Otsu's method adaptively determines threshold values to separate foreground from background effectively.</a:t>
            </a:r>
            <a:endParaRPr lang="en-US"/>
          </a:p>
          <a:p>
            <a:pPr marL="0" indent="0">
              <a:spcBef>
                <a:spcPts val="2500"/>
              </a:spcBef>
              <a:buFont typeface="Arial" panose="020B0604020202020204" pitchFamily="34" charset="0"/>
              <a:buNone/>
            </a:pPr>
            <a:r>
              <a:rPr lang="en-US" b="1"/>
              <a:t>Morphological Noise Cleaning</a:t>
            </a:r>
          </a:p>
          <a:p>
            <a:pPr marL="0" lvl="1" indent="0">
              <a:buFont typeface="Arial" panose="020B0604020202020204" pitchFamily="34" charset="0"/>
              <a:buNone/>
            </a:pPr>
            <a:r>
              <a:t>Morphological operations remove noise without merging separate barcode elements in the image.</a:t>
            </a:r>
            <a:endParaRPr lang="en-US"/>
          </a:p>
          <a:p>
            <a:pPr marL="0" indent="0">
              <a:spcBef>
                <a:spcPts val="2500"/>
              </a:spcBef>
              <a:buFont typeface="Arial" panose="020B0604020202020204" pitchFamily="34" charset="0"/>
              <a:buNone/>
            </a:pPr>
            <a:r>
              <a:rPr lang="en-US" b="1"/>
              <a:t>Contour Filtering and NMS</a:t>
            </a:r>
          </a:p>
          <a:p>
            <a:pPr marL="0" lvl="1" indent="0">
              <a:buFont typeface="Arial" panose="020B0604020202020204" pitchFamily="34" charset="0"/>
              <a:buNone/>
            </a:pPr>
            <a:r>
              <a:t>Contour filtering and Non-Maximum Suppression precisely localize barcodes and eliminate duplicate detections.</a:t>
            </a:r>
            <a:endParaRPr lang="en-US"/>
          </a:p>
        </p:txBody>
      </p:sp>
      <p:pic>
        <p:nvPicPr>
          <p:cNvPr id="5" name="Content Placeholder 4" descr="Fence of the playground.">
            <a:extLst>
              <a:ext uri="{FF2B5EF4-FFF2-40B4-BE49-F238E27FC236}">
                <a16:creationId xmlns:a16="http://schemas.microsoft.com/office/drawing/2014/main" id="{CBDCFA07-C05F-4951-82AD-00D95007C9DB}"/>
              </a:ext>
            </a:extLst>
          </p:cNvPr>
          <p:cNvPicPr>
            <a:picLocks noGrp="1" noChangeAspect="1"/>
          </p:cNvPicPr>
          <p:nvPr>
            <p:ph type="pic" sz="quarter" idx="13"/>
          </p:nvPr>
        </p:nvPicPr>
        <p:blipFill>
          <a:blip r:embed="rId3"/>
          <a:srcRect l="34480" r="25611"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25877309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549AF-6BEF-E68A-4E6D-4C484D163332}"/>
              </a:ext>
            </a:extLst>
          </p:cNvPr>
          <p:cNvSpPr>
            <a:spLocks noGrp="1"/>
          </p:cNvSpPr>
          <p:nvPr>
            <p:ph type="ctrTitle"/>
          </p:nvPr>
        </p:nvSpPr>
        <p:spPr>
          <a:xfrm>
            <a:off x="609600" y="990600"/>
            <a:ext cx="10058400" cy="5029200"/>
          </a:xfrm>
        </p:spPr>
        <p:txBody>
          <a:bodyPr anchor="b">
            <a:normAutofit/>
          </a:bodyPr>
          <a:lstStyle/>
          <a:p>
            <a:r>
              <a:rPr lang="en-US"/>
              <a:t>Usage Guide</a:t>
            </a:r>
          </a:p>
        </p:txBody>
      </p:sp>
    </p:spTree>
    <p:extLst>
      <p:ext uri="{BB962C8B-B14F-4D97-AF65-F5344CB8AC3E}">
        <p14:creationId xmlns:p14="http://schemas.microsoft.com/office/powerpoint/2010/main" val="1207131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512D-7FED-782F-BB1F-60A5F1C6B2E9}"/>
              </a:ext>
            </a:extLst>
          </p:cNvPr>
          <p:cNvSpPr>
            <a:spLocks noGrp="1"/>
          </p:cNvSpPr>
          <p:nvPr>
            <p:ph type="title"/>
          </p:nvPr>
        </p:nvSpPr>
        <p:spPr>
          <a:xfrm>
            <a:off x="8212664" y="687787"/>
            <a:ext cx="3363259" cy="1993392"/>
          </a:xfrm>
        </p:spPr>
        <p:txBody>
          <a:bodyPr anchor="b">
            <a:normAutofit/>
          </a:bodyPr>
          <a:lstStyle/>
          <a:p>
            <a:r>
              <a:rPr lang="en-US" sz="5000"/>
              <a:t>Running the Pipeline</a:t>
            </a:r>
          </a:p>
        </p:txBody>
      </p:sp>
      <p:pic>
        <p:nvPicPr>
          <p:cNvPr id="5" name="Content Placeholder 4" descr="metaphor of delivering circle">
            <a:extLst>
              <a:ext uri="{FF2B5EF4-FFF2-40B4-BE49-F238E27FC236}">
                <a16:creationId xmlns:a16="http://schemas.microsoft.com/office/drawing/2014/main" id="{6DA8AE5E-26E6-4C63-9805-24A654CFBF52}"/>
              </a:ext>
            </a:extLst>
          </p:cNvPr>
          <p:cNvPicPr>
            <a:picLocks noGrp="1" noChangeAspect="1"/>
          </p:cNvPicPr>
          <p:nvPr>
            <p:ph type="pic" sz="quarter" idx="13"/>
          </p:nvPr>
        </p:nvPicPr>
        <p:blipFill>
          <a:blip r:embed="rId3"/>
          <a:srcRect l="7437" r="9622"/>
          <a:stretch>
            <a:fillRect/>
          </a:stretch>
        </p:blipFill>
        <p:spPr>
          <a:xfrm>
            <a:off x="20" y="10"/>
            <a:ext cx="7584124" cy="6857990"/>
          </a:xfrm>
          <a:prstGeom prst="rect">
            <a:avLst/>
          </a:prstGeom>
          <a:noFill/>
        </p:spPr>
      </p:pic>
      <p:sp>
        <p:nvSpPr>
          <p:cNvPr id="4" name="Content Placeholder 3">
            <a:extLst>
              <a:ext uri="{FF2B5EF4-FFF2-40B4-BE49-F238E27FC236}">
                <a16:creationId xmlns:a16="http://schemas.microsoft.com/office/drawing/2014/main" id="{D26040A5-5C6E-038A-930F-DCE8750E67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791" y="2880360"/>
            <a:ext cx="3363259" cy="3274612"/>
          </a:xfrm>
        </p:spPr>
        <p:txBody>
          <a:bodyPr>
            <a:normAutofit/>
          </a:bodyPr>
          <a:lstStyle/>
          <a:p>
            <a:pPr marL="0" indent="0">
              <a:lnSpc>
                <a:spcPct val="90000"/>
              </a:lnSpc>
              <a:spcBef>
                <a:spcPts val="2500"/>
              </a:spcBef>
              <a:buFont typeface="Arial" panose="020B0604020202020204" pitchFamily="34" charset="0"/>
              <a:buNone/>
            </a:pPr>
            <a:r>
              <a:rPr lang="en-US" b="1"/>
              <a:t>Installing Dependencies</a:t>
            </a:r>
          </a:p>
          <a:p>
            <a:pPr marL="0" lvl="1" indent="0">
              <a:lnSpc>
                <a:spcPct val="90000"/>
              </a:lnSpc>
              <a:buFont typeface="Arial" panose="020B0604020202020204" pitchFamily="34" charset="0"/>
              <a:buNone/>
            </a:pPr>
            <a:r>
              <a:t>Install essential libraries like OpenCV and NumPy to support image processing tasks within the pipeline.</a:t>
            </a:r>
            <a:endParaRPr lang="en-US"/>
          </a:p>
          <a:p>
            <a:pPr marL="0" indent="0">
              <a:lnSpc>
                <a:spcPct val="90000"/>
              </a:lnSpc>
              <a:spcBef>
                <a:spcPts val="2500"/>
              </a:spcBef>
              <a:buFont typeface="Arial" panose="020B0604020202020204" pitchFamily="34" charset="0"/>
              <a:buNone/>
            </a:pPr>
            <a:r>
              <a:rPr lang="en-US" b="1"/>
              <a:t>Loading and Processing Images</a:t>
            </a:r>
          </a:p>
          <a:p>
            <a:pPr marL="0" lvl="1" indent="0">
              <a:lnSpc>
                <a:spcPct val="90000"/>
              </a:lnSpc>
              <a:buFont typeface="Arial" panose="020B0604020202020204" pitchFamily="34" charset="0"/>
              <a:buNone/>
            </a:pPr>
            <a:r>
              <a:t>Load input images and process them step-by-step using sequential execution in Google Colab notebooks.</a:t>
            </a:r>
            <a:endParaRPr lang="en-US"/>
          </a:p>
          <a:p>
            <a:pPr marL="0" indent="0">
              <a:lnSpc>
                <a:spcPct val="90000"/>
              </a:lnSpc>
              <a:spcBef>
                <a:spcPts val="2500"/>
              </a:spcBef>
              <a:buFont typeface="Arial" panose="020B0604020202020204" pitchFamily="34" charset="0"/>
              <a:buNone/>
            </a:pPr>
            <a:r>
              <a:rPr lang="en-US" b="1"/>
              <a:t>Parameter Adjustment</a:t>
            </a:r>
          </a:p>
          <a:p>
            <a:pPr marL="0" lvl="1" indent="0">
              <a:lnSpc>
                <a:spcPct val="90000"/>
              </a:lnSpc>
              <a:buFont typeface="Arial" panose="020B0604020202020204" pitchFamily="34" charset="0"/>
              <a:buNone/>
            </a:pPr>
            <a:r>
              <a:t>Adjust thresholds and kernel sizes to optimize barcode detection based on image quality and barcode density.</a:t>
            </a:r>
            <a:endParaRPr lang="en-US"/>
          </a:p>
        </p:txBody>
      </p:sp>
    </p:spTree>
    <p:extLst>
      <p:ext uri="{BB962C8B-B14F-4D97-AF65-F5344CB8AC3E}">
        <p14:creationId xmlns:p14="http://schemas.microsoft.com/office/powerpoint/2010/main" val="16238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7CBA6-FA6A-37B6-8CF7-4067B6F0DFC2}"/>
              </a:ext>
            </a:extLst>
          </p:cNvPr>
          <p:cNvSpPr>
            <a:spLocks noGrp="1"/>
          </p:cNvSpPr>
          <p:nvPr>
            <p:ph type="ctrTitle"/>
          </p:nvPr>
        </p:nvSpPr>
        <p:spPr>
          <a:xfrm>
            <a:off x="609600" y="990600"/>
            <a:ext cx="10058400" cy="5029200"/>
          </a:xfrm>
        </p:spPr>
        <p:txBody>
          <a:bodyPr anchor="b">
            <a:normAutofit/>
          </a:bodyPr>
          <a:lstStyle/>
          <a:p>
            <a:r>
              <a:rPr lang="en-US"/>
              <a:t>Conclusion</a:t>
            </a:r>
          </a:p>
        </p:txBody>
      </p:sp>
    </p:spTree>
    <p:extLst>
      <p:ext uri="{BB962C8B-B14F-4D97-AF65-F5344CB8AC3E}">
        <p14:creationId xmlns:p14="http://schemas.microsoft.com/office/powerpoint/2010/main" val="37514248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E990D-A1C1-4B63-28C6-1E1A6F9D0E7A}"/>
              </a:ext>
            </a:extLst>
          </p:cNvPr>
          <p:cNvSpPr>
            <a:spLocks noGrp="1"/>
          </p:cNvSpPr>
          <p:nvPr>
            <p:ph type="title"/>
          </p:nvPr>
        </p:nvSpPr>
        <p:spPr>
          <a:xfrm>
            <a:off x="7010400" y="685800"/>
            <a:ext cx="4561665" cy="1371264"/>
          </a:xfrm>
        </p:spPr>
        <p:txBody>
          <a:bodyPr anchor="b">
            <a:normAutofit/>
          </a:bodyPr>
          <a:lstStyle/>
          <a:p>
            <a:r>
              <a:rPr lang="en-US" sz="3400"/>
              <a:t>Achievements and Future Enhancements</a:t>
            </a:r>
          </a:p>
        </p:txBody>
      </p:sp>
      <p:pic>
        <p:nvPicPr>
          <p:cNvPr id="5" name="Content Placeholder 4" descr="young man handing with barcode scanner">
            <a:extLst>
              <a:ext uri="{FF2B5EF4-FFF2-40B4-BE49-F238E27FC236}">
                <a16:creationId xmlns:a16="http://schemas.microsoft.com/office/drawing/2014/main" id="{BE440FE9-3687-47D6-999E-DF7C55FF2103}"/>
              </a:ext>
            </a:extLst>
          </p:cNvPr>
          <p:cNvPicPr>
            <a:picLocks noGrp="1" noChangeAspect="1"/>
          </p:cNvPicPr>
          <p:nvPr>
            <p:ph type="pic" sz="quarter" idx="15"/>
          </p:nvPr>
        </p:nvPicPr>
        <p:blipFill>
          <a:blip r:embed="rId3"/>
          <a:srcRect l="12771" r="25029" b="-1"/>
          <a:stretch>
            <a:fillRect/>
          </a:stretch>
        </p:blipFill>
        <p:spPr>
          <a:xfrm>
            <a:off x="1" y="10"/>
            <a:ext cx="6390464" cy="6857990"/>
          </a:xfrm>
          <a:prstGeom prst="rect">
            <a:avLst/>
          </a:prstGeom>
          <a:noFill/>
        </p:spPr>
      </p:pic>
      <p:sp>
        <p:nvSpPr>
          <p:cNvPr id="4" name="Content Placeholder 3">
            <a:extLst>
              <a:ext uri="{FF2B5EF4-FFF2-40B4-BE49-F238E27FC236}">
                <a16:creationId xmlns:a16="http://schemas.microsoft.com/office/drawing/2014/main" id="{8C0D38C8-480B-9A43-33DD-5A70A24A074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Robust Barcode Detection</a:t>
            </a:r>
          </a:p>
          <a:p>
            <a:pPr marL="0" lvl="1" indent="0">
              <a:buFont typeface="Arial" panose="020B0604020202020204" pitchFamily="34" charset="0"/>
              <a:buNone/>
            </a:pPr>
            <a:r>
              <a:t>Developed a barcode detection system that works regardless of barcode orientation and handles noisy images effectively.</a:t>
            </a:r>
            <a:endParaRPr lang="en-US"/>
          </a:p>
          <a:p>
            <a:pPr marL="0" indent="0">
              <a:spcBef>
                <a:spcPts val="2500"/>
              </a:spcBef>
              <a:buFont typeface="Arial" panose="020B0604020202020204" pitchFamily="34" charset="0"/>
              <a:buNone/>
            </a:pPr>
            <a:r>
              <a:rPr lang="en-US" b="1"/>
              <a:t>Merged Barcode Separation</a:t>
            </a:r>
          </a:p>
          <a:p>
            <a:pPr marL="0" lvl="1" indent="0">
              <a:buFont typeface="Arial" panose="020B0604020202020204" pitchFamily="34" charset="0"/>
              <a:buNone/>
            </a:pPr>
            <a:r>
              <a:t>Successfully separated merged barcodes to improve detection accuracy and reduce false positives.</a:t>
            </a:r>
            <a:endParaRPr lang="en-US"/>
          </a:p>
          <a:p>
            <a:pPr marL="0" indent="0">
              <a:spcBef>
                <a:spcPts val="2500"/>
              </a:spcBef>
              <a:buFont typeface="Arial" panose="020B0604020202020204" pitchFamily="34" charset="0"/>
              <a:buNone/>
            </a:pPr>
            <a:r>
              <a:rPr lang="en-US" b="1"/>
              <a:t>Future System Enhancements</a:t>
            </a:r>
          </a:p>
          <a:p>
            <a:pPr marL="0" lvl="1" indent="0">
              <a:buFont typeface="Arial" panose="020B0604020202020204" pitchFamily="34" charset="0"/>
              <a:buNone/>
            </a:pPr>
            <a:r>
              <a:t>Plans include integrating barcode decoding, optimizing system performance, and enabling real-time barcode detection.</a:t>
            </a:r>
            <a:endParaRPr lang="en-US"/>
          </a:p>
        </p:txBody>
      </p:sp>
    </p:spTree>
    <p:extLst>
      <p:ext uri="{BB962C8B-B14F-4D97-AF65-F5344CB8AC3E}">
        <p14:creationId xmlns:p14="http://schemas.microsoft.com/office/powerpoint/2010/main" val="4250894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CDD9-41B4-A9FC-8E69-C92398D1A925}"/>
              </a:ext>
            </a:extLst>
          </p:cNvPr>
          <p:cNvSpPr>
            <a:spLocks noGrp="1"/>
          </p:cNvSpPr>
          <p:nvPr>
            <p:ph type="ctrTitle"/>
          </p:nvPr>
        </p:nvSpPr>
        <p:spPr>
          <a:xfrm>
            <a:off x="609600" y="990600"/>
            <a:ext cx="10058400" cy="5029200"/>
          </a:xfrm>
        </p:spPr>
        <p:txBody>
          <a:bodyPr anchor="b">
            <a:normAutofit/>
          </a:bodyPr>
          <a:lstStyle/>
          <a:p>
            <a:r>
              <a:rPr lang="en-US"/>
              <a:t>References</a:t>
            </a:r>
          </a:p>
        </p:txBody>
      </p:sp>
    </p:spTree>
    <p:extLst>
      <p:ext uri="{BB962C8B-B14F-4D97-AF65-F5344CB8AC3E}">
        <p14:creationId xmlns:p14="http://schemas.microsoft.com/office/powerpoint/2010/main" val="20643862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EEBFA-D396-4541-196D-FD6739AEC905}"/>
              </a:ext>
            </a:extLst>
          </p:cNvPr>
          <p:cNvSpPr>
            <a:spLocks noGrp="1"/>
          </p:cNvSpPr>
          <p:nvPr>
            <p:ph type="title"/>
          </p:nvPr>
        </p:nvSpPr>
        <p:spPr>
          <a:xfrm>
            <a:off x="7010400" y="685800"/>
            <a:ext cx="4561665" cy="1371264"/>
          </a:xfrm>
        </p:spPr>
        <p:txBody>
          <a:bodyPr anchor="b">
            <a:normAutofit/>
          </a:bodyPr>
          <a:lstStyle/>
          <a:p>
            <a:r>
              <a:rPr lang="en-US" sz="5000"/>
              <a:t>Key Resources</a:t>
            </a:r>
          </a:p>
        </p:txBody>
      </p:sp>
      <p:pic>
        <p:nvPicPr>
          <p:cNvPr id="5" name="Content Placeholder 4" descr="Computer script on a screen">
            <a:extLst>
              <a:ext uri="{FF2B5EF4-FFF2-40B4-BE49-F238E27FC236}">
                <a16:creationId xmlns:a16="http://schemas.microsoft.com/office/drawing/2014/main" id="{0D099FC2-06A7-445F-9A28-F8E67E06DE46}"/>
              </a:ext>
            </a:extLst>
          </p:cNvPr>
          <p:cNvPicPr>
            <a:picLocks noGrp="1" noChangeAspect="1"/>
          </p:cNvPicPr>
          <p:nvPr>
            <p:ph type="pic" sz="quarter" idx="15"/>
          </p:nvPr>
        </p:nvPicPr>
        <p:blipFill>
          <a:blip r:embed="rId3"/>
          <a:srcRect r="37800" b="-1"/>
          <a:stretch>
            <a:fillRect/>
          </a:stretch>
        </p:blipFill>
        <p:spPr>
          <a:xfrm>
            <a:off x="1" y="10"/>
            <a:ext cx="6390464" cy="6857990"/>
          </a:xfrm>
          <a:prstGeom prst="rect">
            <a:avLst/>
          </a:prstGeom>
          <a:noFill/>
        </p:spPr>
      </p:pic>
      <p:sp>
        <p:nvSpPr>
          <p:cNvPr id="4" name="Content Placeholder 3">
            <a:extLst>
              <a:ext uri="{FF2B5EF4-FFF2-40B4-BE49-F238E27FC236}">
                <a16:creationId xmlns:a16="http://schemas.microsoft.com/office/drawing/2014/main" id="{552801DA-129D-D151-12E0-BDA377D38EB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OpenCV Documentation</a:t>
            </a:r>
          </a:p>
          <a:p>
            <a:pPr marL="0" lvl="1" indent="0">
              <a:buFont typeface="Arial" panose="020B0604020202020204" pitchFamily="34" charset="0"/>
              <a:buNone/>
            </a:pPr>
            <a:r>
              <a:t>Comprehensive online documentation for OpenCV, a popular computer vision library.</a:t>
            </a:r>
            <a:endParaRPr lang="en-US"/>
          </a:p>
          <a:p>
            <a:pPr marL="0" indent="0">
              <a:spcBef>
                <a:spcPts val="2500"/>
              </a:spcBef>
              <a:buFont typeface="Arial" panose="020B0604020202020204" pitchFamily="34" charset="0"/>
              <a:buNone/>
            </a:pPr>
            <a:r>
              <a:rPr lang="en-US" b="1"/>
              <a:t>NumPy Documentation</a:t>
            </a:r>
          </a:p>
          <a:p>
            <a:pPr marL="0" lvl="1" indent="0">
              <a:buFont typeface="Arial" panose="020B0604020202020204" pitchFamily="34" charset="0"/>
              <a:buNone/>
            </a:pPr>
            <a:r>
              <a:t>Extensive documentation for NumPy, a fundamental package for scientific computing in Python.</a:t>
            </a:r>
            <a:endParaRPr lang="en-US"/>
          </a:p>
        </p:txBody>
      </p:sp>
    </p:spTree>
    <p:extLst>
      <p:ext uri="{BB962C8B-B14F-4D97-AF65-F5344CB8AC3E}">
        <p14:creationId xmlns:p14="http://schemas.microsoft.com/office/powerpoint/2010/main" val="4983381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DF10072-02C4-49CD-A62E-A2D45571E05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3.xml><?xml version="1.0" encoding="utf-8"?>
<ds:datastoreItem xmlns:ds="http://schemas.openxmlformats.org/officeDocument/2006/customXml" ds:itemID="{EEA42C18-4C38-43BB-8CE3-C963EDA9CBBA}">
  <ds:schemaRefs>
    <ds:schemaRef ds:uri="http://purl.org/dc/dcmitype/"/>
    <ds:schemaRef ds:uri="http://www.w3.org/XML/1998/namespace"/>
    <ds:schemaRef ds:uri="http://schemas.microsoft.com/office/2006/metadata/properties"/>
    <ds:schemaRef ds:uri="http://schemas.microsoft.com/office/2006/documentManagement/types"/>
    <ds:schemaRef ds:uri="http://purl.org/dc/elements/1.1/"/>
    <ds:schemaRef ds:uri="http://schemas.microsoft.com/sharepoint/v3"/>
    <ds:schemaRef ds:uri="230e9df3-be65-4c73-a93b-d1236ebd677e"/>
    <ds:schemaRef ds:uri="http://schemas.microsoft.com/office/infopath/2007/PartnerControls"/>
    <ds:schemaRef ds:uri="16c05727-aa75-4e4a-9b5f-8a80a1165891"/>
    <ds:schemaRef ds:uri="http://schemas.openxmlformats.org/package/2006/metadata/core-properties"/>
    <ds:schemaRef ds:uri="71af3243-3dd4-4a8d-8c0d-dd76da1f02a5"/>
    <ds:schemaRef ds:uri="http://purl.org/dc/te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184</TotalTime>
  <Words>3537</Words>
  <Application>Microsoft Office PowerPoint</Application>
  <PresentationFormat>Widescreen</PresentationFormat>
  <Paragraphs>301</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Aptos</vt:lpstr>
      <vt:lpstr>Arial</vt:lpstr>
      <vt:lpstr>Bahnschrift SemiLight</vt:lpstr>
      <vt:lpstr>Blockwork elegance</vt:lpstr>
      <vt:lpstr>1D Barcode Detection Project</vt:lpstr>
      <vt:lpstr>Introduction</vt:lpstr>
      <vt:lpstr>Executive Summary</vt:lpstr>
      <vt:lpstr>Project Overview</vt:lpstr>
      <vt:lpstr>Background &amp; Objectives</vt:lpstr>
      <vt:lpstr>Importance and Goals</vt:lpstr>
      <vt:lpstr>System Overview</vt:lpstr>
      <vt:lpstr>Inputs and Dependencies</vt:lpstr>
      <vt:lpstr>Pipeline Architecture</vt:lpstr>
      <vt:lpstr>Stages of Processing</vt:lpstr>
      <vt:lpstr>Step-by-Step Process</vt:lpstr>
      <vt:lpstr>Step 0: Imports</vt:lpstr>
      <vt:lpstr>Step 1: Image Loading &amp; Preview</vt:lpstr>
      <vt:lpstr>Step 2: Preprocessing &amp; Gradient</vt:lpstr>
      <vt:lpstr>Step 3: Thresholding &amp; Morphology</vt:lpstr>
      <vt:lpstr>Step 4: Contour Detection &amp; Candidate Buffering</vt:lpstr>
      <vt:lpstr>Step 5: Validation Functions</vt:lpstr>
      <vt:lpstr>Contour Validation:</vt:lpstr>
      <vt:lpstr>IoU and Distance Computation : </vt:lpstr>
      <vt:lpstr>Non-Maximum Suppression : </vt:lpstr>
      <vt:lpstr>Barcode Splitting Techniques</vt:lpstr>
      <vt:lpstr>Barcode Splitting Techniques</vt:lpstr>
      <vt:lpstr>Barcode Splitting Techniques</vt:lpstr>
      <vt:lpstr>Barcode Splitting Techniques</vt:lpstr>
      <vt:lpstr>Barcode Splitting Techniques</vt:lpstr>
      <vt:lpstr>Barcode Splitting Techniques</vt:lpstr>
      <vt:lpstr>Step 6: Final Detection &amp; Visualization</vt:lpstr>
      <vt:lpstr>Challenges</vt:lpstr>
      <vt:lpstr>Key Development Challenges</vt:lpstr>
      <vt:lpstr>Future Work</vt:lpstr>
      <vt:lpstr>Barcode Decoding Strategies</vt:lpstr>
      <vt:lpstr>Algorithms &amp; Rationale</vt:lpstr>
      <vt:lpstr>Choice of Techniques</vt:lpstr>
      <vt:lpstr>Usage Guide</vt:lpstr>
      <vt:lpstr>Running the Pipeline</vt:lpstr>
      <vt:lpstr>Conclusion</vt:lpstr>
      <vt:lpstr>Achievements and Future Enhancements</vt:lpstr>
      <vt:lpstr>References</vt:lpstr>
      <vt:lpstr>Key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Mohamed  Sameh</cp:lastModifiedBy>
  <cp:revision>5</cp:revision>
  <dcterms:created xsi:type="dcterms:W3CDTF">2025-08-04T03:17:32Z</dcterms:created>
  <dcterms:modified xsi:type="dcterms:W3CDTF">2025-12-11T14:06:25Z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